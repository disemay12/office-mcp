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A6D1F-B850-44DB-BF24-3517697547BC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3B38D-D5B8-4B66-A3D7-F805AFC9F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265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Мост связывает чат OpenCode с локально установленными приложениями Microsoft Office через MCP и COM.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3B38D-D5B8-4B66-A3D7-F805AFC9FEB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846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Ключевая идея: документ создаёт само приложение Office, поэтому форматирование, стили и формулы остаются настоящими.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3B38D-D5B8-4B66-A3D7-F805AFC9FEB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366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Чат вызывает MCP-инструмент, сервер ставит задачу в очередь, COM-поток выполняет её в Office и возвращает JSON.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3B38D-D5B8-4B66-A3D7-F805AFC9FEB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847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Один поток — не узкое место, а способ сделать поведение предсказуемым.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3B38D-D5B8-4B66-A3D7-F805AFC9FEB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125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Именованный мьютекс не даёт двум чатам одновременно управлять Office.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3B38D-D5B8-4B66-A3D7-F805AFC9FEB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728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Word — 19, Excel — 17, PowerPoint — 13, общие — 4.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3B38D-D5B8-4B66-A3D7-F805AFC9FEB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199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Правило простое: пользователь называет файл — мост работает с ним; не называет — создаёт в Documents\Office MCP.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3B38D-D5B8-4B66-A3D7-F805AFC9FEB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595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Мост не sandbox: он делает ровно то, что может делать пользователь в Office.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3B38D-D5B8-4B66-A3D7-F805AFC9FEB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977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Один чат, три приложения, реальные файлы.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3B38D-D5B8-4B66-A3D7-F805AFC9FEB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132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6F23F2-ACAF-451C-904B-2BFC8E350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106CC2-8497-4703-87CB-E7C07954F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366E74-5D9A-4366-BF0A-379150A3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354361-8FDC-4F29-AC4F-6225C304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CC0F66-6744-4130-9C02-F86B06717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19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A5CBB-7D0B-4FF8-BCE2-786002C9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E38D05-10D5-420C-BEE8-3DABB601A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34F242-A7A0-4837-AE1B-7131808A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016DF6-1D72-4D6B-9C40-56880A020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1DC740-A0BC-4FBB-8C05-5684DB182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6357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49B95-73D2-45CF-AFED-5390541D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154274-A9A8-4442-A7DE-097835BC8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595398-5633-4C7E-A880-55C38360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C0B3BB-D3CF-46C0-8465-E322C92E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82CC11-2FE3-4224-B97E-1EC982F9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66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0AE0DB-4A9D-4B08-90A2-CC7E0C49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77C740-2672-4D7F-86FE-93B74505C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934AA7-7182-4015-921D-074248865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B1C5D0-B0F4-409B-AE8F-2ED05D140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44FD2D-526C-4A64-A4D2-5FE6EA726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2C1BBB-8196-42FD-BFE3-103A2FC2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69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F1C20-588D-4118-A6B1-72FDA2705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0F9EAB-DB57-4B42-94B0-A252B066A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7E0051-72CB-48D8-8685-913154EC8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99E70C9-BFDB-4E22-816C-8BFCEC1EF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C3565F4-52AE-4545-9112-A1510D025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881C09C-0624-470C-B62C-A43A24A0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9F4CDE0-B6CD-45FC-B865-67D6A68D3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D9FBABA-F4A8-4500-96C7-0F384221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384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B1B73-9E2A-41D5-9A61-38E07D0F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BB475D-B6D7-4328-846C-3E4CE56A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4A1B1C2-0415-40D4-A42B-A04752E1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72083E8-B5B8-4E74-8931-3945DAF3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60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6570933-68A7-4054-880A-187356DAF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CC941A6-0A61-45AE-BCB9-0F9C9D09F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E1C470-2711-4D93-8C4A-9C863490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65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A8054-C3D6-4487-B119-EBB092B5D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1F48D6-8103-4636-ABC8-7768520B8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4E841F-B93F-4E6E-826D-47246CE16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19D61B-812B-4BD4-9273-59AF97999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CC26AD-9324-47A8-9165-C2EDCF6E0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6628CB-6F28-4E97-BB96-34020537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433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F5EA41-CDA5-4B33-8BC0-BD3AD75C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8742ECE-CB02-4F78-A596-0AFB46333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D2E6F3-EF14-4B83-A2DB-CCDD58F4E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DFE5A2-21CC-40CF-AA40-3771EEF0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17CE25-3BAA-4A9E-A0D0-46C0D0D5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5EF33E-1AC7-4E9C-BF64-8B47F32F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285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BB337-CE02-456D-B187-AD1721BC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9CA0E3-3A1A-47EF-A03B-C88F4081D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CE3B0E-53A5-4AB5-89BF-3F15FDB32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86D412-F9A9-49ED-B493-A4006C19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8A7A7C-9076-448B-8D02-1F90A081F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3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9ADD725-61FE-4525-AE97-7377C642AF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422C123-CB6D-42A9-832F-B7DD1D4A2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F5D5C9-7D7F-4344-BA53-A28BC2C9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41CE38-5F6B-44A7-B3FB-0855069B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E1513E-FEBA-47ED-9125-1FD78F2C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092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AEE00-7E6A-4C89-A052-2B346441F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8FC2FF-F236-4279-AB7C-21405E43A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58C38B-B9D2-4D9D-99D4-81D819CC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0BF995-5796-4D86-BFF0-540EB6626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32368F-EAF0-4654-AB01-2B1619F3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11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46E2B-F3BF-44D3-A12B-A2BB1EDD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26211F-FDB2-41BA-8C47-1F14864B3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4188C3-F308-4358-802E-94BA1E9C2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F2F7A-1871-4839-A784-AAFBFF84BEB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FEAAE9-F819-49EC-9BEC-87B761C987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4DC1EF-3FC2-4906-BD5B-1CCC11E55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9BE14-7B6D-4859-AEF0-6DFFD7A89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3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Овал 65">
            <a:extLst>
              <a:ext uri="{FF2B5EF4-FFF2-40B4-BE49-F238E27FC236}">
                <a16:creationId xmlns:a16="http://schemas.microsoft.com/office/drawing/2014/main" id="{84AEE83E-B7C3-4FF1-8187-C77B8318DBEB}"/>
              </a:ext>
            </a:extLst>
          </p:cNvPr>
          <p:cNvSpPr/>
          <p:nvPr/>
        </p:nvSpPr>
        <p:spPr>
          <a:xfrm>
            <a:off x="8001000" y="-1524000"/>
            <a:ext cx="6350000" cy="6350000"/>
          </a:xfrm>
          <a:prstGeom prst="ellipse">
            <a:avLst/>
          </a:prstGeom>
          <a:noFill/>
          <a:ln w="15875" cap="flat" cmpd="sng" algn="ctr">
            <a:solidFill>
              <a:srgbClr val="1B335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54205F30-7685-4EF5-91A6-B4D276ECD9BD}"/>
              </a:ext>
            </a:extLst>
          </p:cNvPr>
          <p:cNvSpPr/>
          <p:nvPr/>
        </p:nvSpPr>
        <p:spPr>
          <a:xfrm>
            <a:off x="8890000" y="698500"/>
            <a:ext cx="4191000" cy="4191000"/>
          </a:xfrm>
          <a:prstGeom prst="ellipse">
            <a:avLst/>
          </a:prstGeom>
          <a:solidFill>
            <a:srgbClr val="0E1E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CB9CADCA-3C6D-4392-84E3-08503DE31BF3}"/>
              </a:ext>
            </a:extLst>
          </p:cNvPr>
          <p:cNvCxnSpPr/>
          <p:nvPr/>
        </p:nvCxnSpPr>
        <p:spPr>
          <a:xfrm>
            <a:off x="7874000" y="1397000"/>
            <a:ext cx="0" cy="4064000"/>
          </a:xfrm>
          <a:prstGeom prst="line">
            <a:avLst/>
          </a:prstGeom>
          <a:ln w="12700">
            <a:solidFill>
              <a:srgbClr val="1B33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F4224AA-2F76-4E61-B0C2-E2F1E76272AE}"/>
              </a:ext>
            </a:extLst>
          </p:cNvPr>
          <p:cNvSpPr txBox="1"/>
          <p:nvPr/>
        </p:nvSpPr>
        <p:spPr>
          <a:xfrm>
            <a:off x="812800" y="635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00" b="1">
                <a:solidFill>
                  <a:srgbClr val="22D3EE"/>
                </a:solidFill>
                <a:latin typeface="Segoe UI" panose="020B0502040204020203" pitchFamily="34" charset="0"/>
              </a:rPr>
              <a:t>OPENCODE  ×  MICROSOFT OFFICE</a:t>
            </a:r>
            <a:endParaRPr lang="ru-RU" sz="1100" b="1">
              <a:solidFill>
                <a:srgbClr val="22D3EE"/>
              </a:solidFill>
              <a:latin typeface="Segoe UI" panose="020B0502040204020203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22145B7-C218-419A-A664-E58DD297220D}"/>
              </a:ext>
            </a:extLst>
          </p:cNvPr>
          <p:cNvSpPr txBox="1"/>
          <p:nvPr/>
        </p:nvSpPr>
        <p:spPr>
          <a:xfrm>
            <a:off x="812800" y="1600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5800" b="1">
                <a:solidFill>
                  <a:srgbClr val="E8EEF7"/>
                </a:solidFill>
                <a:latin typeface="Segoe UI" panose="020B0502040204020203" pitchFamily="34" charset="0"/>
              </a:rPr>
              <a:t>MCP-</a:t>
            </a:r>
            <a:r>
              <a:rPr lang="ru-RU" sz="5800" b="1">
                <a:solidFill>
                  <a:srgbClr val="E8EEF7"/>
                </a:solidFill>
                <a:latin typeface="Segoe UI" panose="020B0502040204020203" pitchFamily="34" charset="0"/>
              </a:rPr>
              <a:t>мост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A334E3-F9A1-4822-B00D-7566D31A0459}"/>
              </a:ext>
            </a:extLst>
          </p:cNvPr>
          <p:cNvSpPr txBox="1"/>
          <p:nvPr/>
        </p:nvSpPr>
        <p:spPr>
          <a:xfrm>
            <a:off x="812800" y="24638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5800" b="1">
                <a:solidFill>
                  <a:srgbClr val="22D3EE"/>
                </a:solidFill>
                <a:latin typeface="Segoe UI" panose="020B0502040204020203" pitchFamily="34" charset="0"/>
              </a:rPr>
              <a:t>Office</a:t>
            </a:r>
            <a:endParaRPr lang="ru-RU" sz="5800" b="1">
              <a:solidFill>
                <a:srgbClr val="22D3EE"/>
              </a:solidFill>
              <a:latin typeface="Segoe UI" panose="020B0502040204020203" pitchFamily="34" charset="0"/>
            </a:endParaRP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66371EDB-0579-47B8-890F-2ACFB85EA5BA}"/>
              </a:ext>
            </a:extLst>
          </p:cNvPr>
          <p:cNvSpPr/>
          <p:nvPr/>
        </p:nvSpPr>
        <p:spPr>
          <a:xfrm>
            <a:off x="812800" y="3708400"/>
            <a:ext cx="9652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2BF0FF-BDA2-4CEA-A45E-CC2764A6A767}"/>
              </a:ext>
            </a:extLst>
          </p:cNvPr>
          <p:cNvSpPr txBox="1"/>
          <p:nvPr/>
        </p:nvSpPr>
        <p:spPr>
          <a:xfrm>
            <a:off x="812800" y="40132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900">
                <a:solidFill>
                  <a:srgbClr val="9FB0C7"/>
                </a:solidFill>
                <a:latin typeface="Segoe UI" panose="020B0502040204020203" pitchFamily="34" charset="0"/>
              </a:rPr>
              <a:t>Как любой чат </a:t>
            </a:r>
            <a:r>
              <a:rPr lang="en-US" sz="1900">
                <a:solidFill>
                  <a:srgbClr val="9FB0C7"/>
                </a:solidFill>
                <a:latin typeface="Segoe UI" panose="020B0502040204020203" pitchFamily="34" charset="0"/>
              </a:rPr>
              <a:t>OpenCode </a:t>
            </a:r>
            <a:r>
              <a:rPr lang="ru-RU" sz="1900">
                <a:solidFill>
                  <a:srgbClr val="9FB0C7"/>
                </a:solidFill>
                <a:latin typeface="Segoe UI" panose="020B0502040204020203" pitchFamily="34" charset="0"/>
              </a:rPr>
              <a:t>управляет</a:t>
            </a:r>
          </a:p>
          <a:p>
            <a:r>
              <a:rPr lang="en-US" sz="1900">
                <a:solidFill>
                  <a:srgbClr val="9FB0C7"/>
                </a:solidFill>
                <a:latin typeface="Segoe UI" panose="020B0502040204020203" pitchFamily="34" charset="0"/>
              </a:rPr>
              <a:t>Word, Excel </a:t>
            </a:r>
            <a:r>
              <a:rPr lang="ru-RU" sz="1900">
                <a:solidFill>
                  <a:srgbClr val="9FB0C7"/>
                </a:solidFill>
                <a:latin typeface="Segoe UI" panose="020B0502040204020203" pitchFamily="34" charset="0"/>
              </a:rPr>
              <a:t>и </a:t>
            </a:r>
            <a:r>
              <a:rPr lang="en-US" sz="1900">
                <a:solidFill>
                  <a:srgbClr val="9FB0C7"/>
                </a:solidFill>
                <a:latin typeface="Segoe UI" panose="020B0502040204020203" pitchFamily="34" charset="0"/>
              </a:rPr>
              <a:t>PowerPoint</a:t>
            </a:r>
            <a:endParaRPr lang="ru-RU" sz="1900">
              <a:solidFill>
                <a:srgbClr val="9FB0C7"/>
              </a:solidFill>
              <a:latin typeface="Segoe UI" panose="020B0502040204020203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7FA745-CEE7-4B63-8907-128EE9BBC9E5}"/>
              </a:ext>
            </a:extLst>
          </p:cNvPr>
          <p:cNvSpPr txBox="1"/>
          <p:nvPr/>
        </p:nvSpPr>
        <p:spPr>
          <a:xfrm>
            <a:off x="812800" y="58166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00">
                <a:solidFill>
                  <a:srgbClr val="6F8199"/>
                </a:solidFill>
                <a:latin typeface="Segoe UI" panose="020B0502040204020203" pitchFamily="34" charset="0"/>
              </a:rPr>
              <a:t>53 инструмента  ·  реальные файлы  ·  Windows</a:t>
            </a:r>
          </a:p>
        </p:txBody>
      </p:sp>
      <p:sp>
        <p:nvSpPr>
          <p:cNvPr id="75" name="Прямоугольник: скругленные углы 74">
            <a:extLst>
              <a:ext uri="{FF2B5EF4-FFF2-40B4-BE49-F238E27FC236}">
                <a16:creationId xmlns:a16="http://schemas.microsoft.com/office/drawing/2014/main" id="{F417D82C-76F8-4CAA-830D-D497914FB5BD}"/>
              </a:ext>
            </a:extLst>
          </p:cNvPr>
          <p:cNvSpPr/>
          <p:nvPr/>
        </p:nvSpPr>
        <p:spPr>
          <a:xfrm>
            <a:off x="9652000" y="1041400"/>
            <a:ext cx="1752600" cy="330200"/>
          </a:xfrm>
          <a:prstGeom prst="roundRect">
            <a:avLst/>
          </a:prstGeom>
          <a:solidFill>
            <a:srgbClr val="0E1E33"/>
          </a:solidFill>
          <a:ln w="9525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ru-RU" sz="900" b="1">
                <a:solidFill>
                  <a:srgbClr val="22D3EE"/>
                </a:solidFill>
                <a:latin typeface="Segoe UI" panose="020B0502040204020203" pitchFamily="34" charset="0"/>
              </a:rPr>
              <a:t>53 инструмента</a:t>
            </a:r>
          </a:p>
        </p:txBody>
      </p:sp>
      <p:sp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C95909AB-D3FE-4112-8055-AE379DD93ADC}"/>
              </a:ext>
            </a:extLst>
          </p:cNvPr>
          <p:cNvSpPr/>
          <p:nvPr/>
        </p:nvSpPr>
        <p:spPr>
          <a:xfrm>
            <a:off x="8890000" y="1905000"/>
            <a:ext cx="2540000" cy="8382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2AA74167-AF30-4782-A8DC-1EE65E0C7F97}"/>
              </a:ext>
            </a:extLst>
          </p:cNvPr>
          <p:cNvSpPr/>
          <p:nvPr/>
        </p:nvSpPr>
        <p:spPr>
          <a:xfrm>
            <a:off x="8902700" y="2057400"/>
            <a:ext cx="38100" cy="533400"/>
          </a:xfrm>
          <a:prstGeom prst="rect">
            <a:avLst/>
          </a:prstGeom>
          <a:solidFill>
            <a:srgbClr val="4C9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7588283-A2FB-43EF-82FB-BD5DA97D8BD9}"/>
              </a:ext>
            </a:extLst>
          </p:cNvPr>
          <p:cNvSpPr txBox="1"/>
          <p:nvPr/>
        </p:nvSpPr>
        <p:spPr>
          <a:xfrm>
            <a:off x="9144000" y="20193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E8EEF7"/>
                </a:solidFill>
                <a:latin typeface="Segoe UI" panose="020B0502040204020203" pitchFamily="34" charset="0"/>
              </a:rPr>
              <a:t>Word</a:t>
            </a:r>
            <a:endParaRPr lang="ru-RU" sz="1500" b="1">
              <a:solidFill>
                <a:srgbClr val="E8EEF7"/>
              </a:solidFill>
              <a:latin typeface="Segoe UI" panose="020B0502040204020203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8E0800C-DA06-45E0-A4A4-3364D81A7A3B}"/>
              </a:ext>
            </a:extLst>
          </p:cNvPr>
          <p:cNvSpPr txBox="1"/>
          <p:nvPr/>
        </p:nvSpPr>
        <p:spPr>
          <a:xfrm>
            <a:off x="9144000" y="23241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DOCX · 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документы</a:t>
            </a:r>
          </a:p>
        </p:txBody>
      </p:sp>
      <p:sp>
        <p:nvSpPr>
          <p:cNvPr id="80" name="Прямоугольник: скругленные углы 79">
            <a:extLst>
              <a:ext uri="{FF2B5EF4-FFF2-40B4-BE49-F238E27FC236}">
                <a16:creationId xmlns:a16="http://schemas.microsoft.com/office/drawing/2014/main" id="{8CF9135B-E202-4D0F-9745-A3D51CB270B5}"/>
              </a:ext>
            </a:extLst>
          </p:cNvPr>
          <p:cNvSpPr/>
          <p:nvPr/>
        </p:nvSpPr>
        <p:spPr>
          <a:xfrm>
            <a:off x="8890000" y="2921000"/>
            <a:ext cx="2540000" cy="8382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6FAD5A58-24DF-4EE4-B70C-1DC35A268965}"/>
              </a:ext>
            </a:extLst>
          </p:cNvPr>
          <p:cNvSpPr/>
          <p:nvPr/>
        </p:nvSpPr>
        <p:spPr>
          <a:xfrm>
            <a:off x="8902700" y="3073400"/>
            <a:ext cx="38100" cy="5334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B016675-6F00-436F-9FDA-1AC1272EAFA6}"/>
              </a:ext>
            </a:extLst>
          </p:cNvPr>
          <p:cNvSpPr txBox="1"/>
          <p:nvPr/>
        </p:nvSpPr>
        <p:spPr>
          <a:xfrm>
            <a:off x="9144000" y="30353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E8EEF7"/>
                </a:solidFill>
                <a:latin typeface="Segoe UI" panose="020B0502040204020203" pitchFamily="34" charset="0"/>
              </a:rPr>
              <a:t>Excel</a:t>
            </a:r>
            <a:endParaRPr lang="ru-RU" sz="1500" b="1">
              <a:solidFill>
                <a:srgbClr val="E8EEF7"/>
              </a:solidFill>
              <a:latin typeface="Segoe UI" panose="020B0502040204020203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9E5F338-ACAC-42A7-8011-24C06A720A8B}"/>
              </a:ext>
            </a:extLst>
          </p:cNvPr>
          <p:cNvSpPr txBox="1"/>
          <p:nvPr/>
        </p:nvSpPr>
        <p:spPr>
          <a:xfrm>
            <a:off x="9144000" y="33401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XLSX · 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таблицы и формулы</a:t>
            </a:r>
          </a:p>
        </p:txBody>
      </p:sp>
      <p:sp>
        <p:nvSpPr>
          <p:cNvPr id="84" name="Прямоугольник: скругленные углы 83">
            <a:extLst>
              <a:ext uri="{FF2B5EF4-FFF2-40B4-BE49-F238E27FC236}">
                <a16:creationId xmlns:a16="http://schemas.microsoft.com/office/drawing/2014/main" id="{E4AE3BDB-528B-4A6C-A3DB-705D12BCAED9}"/>
              </a:ext>
            </a:extLst>
          </p:cNvPr>
          <p:cNvSpPr/>
          <p:nvPr/>
        </p:nvSpPr>
        <p:spPr>
          <a:xfrm>
            <a:off x="8890000" y="3937000"/>
            <a:ext cx="2540000" cy="8382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47188B11-FCDA-4E91-BE90-B447AB05EF57}"/>
              </a:ext>
            </a:extLst>
          </p:cNvPr>
          <p:cNvSpPr/>
          <p:nvPr/>
        </p:nvSpPr>
        <p:spPr>
          <a:xfrm>
            <a:off x="8902700" y="4089400"/>
            <a:ext cx="38100" cy="5334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D856895-DF0A-4A51-9761-44D1F0C5015F}"/>
              </a:ext>
            </a:extLst>
          </p:cNvPr>
          <p:cNvSpPr txBox="1"/>
          <p:nvPr/>
        </p:nvSpPr>
        <p:spPr>
          <a:xfrm>
            <a:off x="9144000" y="40513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E8EEF7"/>
                </a:solidFill>
                <a:latin typeface="Segoe UI" panose="020B0502040204020203" pitchFamily="34" charset="0"/>
              </a:rPr>
              <a:t>PowerPoint</a:t>
            </a:r>
            <a:endParaRPr lang="ru-RU" sz="1500" b="1">
              <a:solidFill>
                <a:srgbClr val="E8EEF7"/>
              </a:solidFill>
              <a:latin typeface="Segoe UI" panose="020B0502040204020203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629F707-1EFB-4802-9F56-C104C603C2E7}"/>
              </a:ext>
            </a:extLst>
          </p:cNvPr>
          <p:cNvSpPr txBox="1"/>
          <p:nvPr/>
        </p:nvSpPr>
        <p:spPr>
          <a:xfrm>
            <a:off x="9144000" y="4356100"/>
            <a:ext cx="2133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PPTX · 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слайды и </a:t>
            </a:r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PDF</a:t>
            </a:r>
            <a:endParaRPr lang="ru-RU" sz="900">
              <a:solidFill>
                <a:srgbClr val="6F8199"/>
              </a:solidFill>
              <a:latin typeface="Segoe UI" panose="020B0502040204020203" pitchFamily="34" charset="0"/>
            </a:endParaRPr>
          </a:p>
        </p:txBody>
      </p: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198597B5-5AF6-4474-8F7D-BCD6A65C55C3}"/>
              </a:ext>
            </a:extLst>
          </p:cNvPr>
          <p:cNvCxnSpPr/>
          <p:nvPr/>
        </p:nvCxnSpPr>
        <p:spPr>
          <a:xfrm>
            <a:off x="812800" y="6400800"/>
            <a:ext cx="10566400" cy="0"/>
          </a:xfrm>
          <a:prstGeom prst="line">
            <a:avLst/>
          </a:prstGeom>
          <a:ln w="9525">
            <a:solidFill>
              <a:srgbClr val="263A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88270FB-97F6-46AD-B43E-674DC8753F52}"/>
              </a:ext>
            </a:extLst>
          </p:cNvPr>
          <p:cNvSpPr txBox="1"/>
          <p:nvPr/>
        </p:nvSpPr>
        <p:spPr>
          <a:xfrm>
            <a:off x="812800" y="64643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office-mcp  ·  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локальный </a:t>
            </a:r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COM-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мост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0C11044-68F4-4881-96BB-1C190C3CAD73}"/>
              </a:ext>
            </a:extLst>
          </p:cNvPr>
          <p:cNvSpPr txBox="1"/>
          <p:nvPr/>
        </p:nvSpPr>
        <p:spPr>
          <a:xfrm>
            <a:off x="10109200" y="64643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1355059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2AA0AF2-404C-4C8F-A158-59210F8CB5D4}"/>
              </a:ext>
            </a:extLst>
          </p:cNvPr>
          <p:cNvSpPr/>
          <p:nvPr/>
        </p:nvSpPr>
        <p:spPr>
          <a:xfrm>
            <a:off x="812800" y="330200"/>
            <a:ext cx="76200" cy="76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D0AD8E-679C-4098-AAEE-59CC761E0E38}"/>
              </a:ext>
            </a:extLst>
          </p:cNvPr>
          <p:cNvSpPr txBox="1"/>
          <p:nvPr/>
        </p:nvSpPr>
        <p:spPr>
          <a:xfrm>
            <a:off x="990600" y="2159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00" b="1">
                <a:solidFill>
                  <a:srgbClr val="22D3EE"/>
                </a:solidFill>
                <a:latin typeface="Segoe UI" panose="020B0502040204020203" pitchFamily="34" charset="0"/>
              </a:rPr>
              <a:t>01 · КОНТЕКСТ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B0F27-9DDE-449C-B31E-0F14472CCDB0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3000" b="1">
                <a:solidFill>
                  <a:srgbClr val="E8EEF7"/>
                </a:solidFill>
                <a:latin typeface="Segoe UI" panose="020B0502040204020203" pitchFamily="34" charset="0"/>
              </a:rPr>
              <a:t>Зачем нужен мост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2369210-6011-4AEC-A0BC-53730542C792}"/>
              </a:ext>
            </a:extLst>
          </p:cNvPr>
          <p:cNvSpPr/>
          <p:nvPr/>
        </p:nvSpPr>
        <p:spPr>
          <a:xfrm>
            <a:off x="812800" y="1422400"/>
            <a:ext cx="6604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ABE55848-F5F0-42F8-8A0B-546B1A281DAF}"/>
              </a:ext>
            </a:extLst>
          </p:cNvPr>
          <p:cNvCxnSpPr/>
          <p:nvPr/>
        </p:nvCxnSpPr>
        <p:spPr>
          <a:xfrm>
            <a:off x="812800" y="6400800"/>
            <a:ext cx="10566400" cy="0"/>
          </a:xfrm>
          <a:prstGeom prst="line">
            <a:avLst/>
          </a:prstGeom>
          <a:ln w="9525">
            <a:solidFill>
              <a:srgbClr val="263A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B51B693-646A-4C76-AF74-A3C07FC69F54}"/>
              </a:ext>
            </a:extLst>
          </p:cNvPr>
          <p:cNvSpPr txBox="1"/>
          <p:nvPr/>
        </p:nvSpPr>
        <p:spPr>
          <a:xfrm>
            <a:off x="812800" y="64643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MCP-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мост </a:t>
            </a:r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Office</a:t>
            </a:r>
            <a:endParaRPr lang="ru-RU" sz="900">
              <a:solidFill>
                <a:srgbClr val="6F8199"/>
              </a:solidFill>
              <a:latin typeface="Segoe UI" panose="020B05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AFCB21-687B-4D48-BDC3-8251FE848B25}"/>
              </a:ext>
            </a:extLst>
          </p:cNvPr>
          <p:cNvSpPr txBox="1"/>
          <p:nvPr/>
        </p:nvSpPr>
        <p:spPr>
          <a:xfrm>
            <a:off x="10109200" y="64643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01 / 09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DC0E5AC5-A34F-4211-A502-AD2C043140BB}"/>
              </a:ext>
            </a:extLst>
          </p:cNvPr>
          <p:cNvSpPr/>
          <p:nvPr/>
        </p:nvSpPr>
        <p:spPr>
          <a:xfrm>
            <a:off x="812800" y="21463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FE211E-0FB7-4433-BF83-B9EB9FB51BB6}"/>
              </a:ext>
            </a:extLst>
          </p:cNvPr>
          <p:cNvSpPr txBox="1"/>
          <p:nvPr/>
        </p:nvSpPr>
        <p:spPr>
          <a:xfrm>
            <a:off x="1066800" y="20574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000">
                <a:solidFill>
                  <a:srgbClr val="D6E2F2"/>
                </a:solidFill>
                <a:latin typeface="Segoe UI" panose="020B0502040204020203" pitchFamily="34" charset="0"/>
              </a:rPr>
              <a:t>Чат умеет говорить, но не умеет работать с реальными файлами Office.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FBBD0A1E-76D9-4841-B403-FAD873533E14}"/>
              </a:ext>
            </a:extLst>
          </p:cNvPr>
          <p:cNvSpPr/>
          <p:nvPr/>
        </p:nvSpPr>
        <p:spPr>
          <a:xfrm>
            <a:off x="812800" y="33655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90C9A7-BDD7-484A-95E8-99F05D4C704F}"/>
              </a:ext>
            </a:extLst>
          </p:cNvPr>
          <p:cNvSpPr txBox="1"/>
          <p:nvPr/>
        </p:nvSpPr>
        <p:spPr>
          <a:xfrm>
            <a:off x="1066800" y="32766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000">
                <a:solidFill>
                  <a:srgbClr val="D6E2F2"/>
                </a:solidFill>
                <a:latin typeface="Segoe UI" panose="020B0502040204020203" pitchFamily="34" charset="0"/>
              </a:rPr>
              <a:t>Мост превращает вызовы инструментов в COM-команды к Word, Excel и PowerPoint.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43989C49-660B-4860-AA45-64B5E3DB879B}"/>
              </a:ext>
            </a:extLst>
          </p:cNvPr>
          <p:cNvSpPr/>
          <p:nvPr/>
        </p:nvSpPr>
        <p:spPr>
          <a:xfrm>
            <a:off x="812800" y="45847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4C0DB5-6DBE-4231-95C7-C0EC0F2A5C43}"/>
              </a:ext>
            </a:extLst>
          </p:cNvPr>
          <p:cNvSpPr txBox="1"/>
          <p:nvPr/>
        </p:nvSpPr>
        <p:spPr>
          <a:xfrm>
            <a:off x="1066800" y="44958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000">
                <a:solidFill>
                  <a:srgbClr val="D6E2F2"/>
                </a:solidFill>
                <a:latin typeface="Segoe UI" panose="020B0502040204020203" pitchFamily="34" charset="0"/>
              </a:rPr>
              <a:t>На выходе — настоящие .docx, .xlsx, .pptx и PDF, а не текстовые заготовки.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2AE316-4268-4A0A-9171-F2F7C952ADB8}"/>
              </a:ext>
            </a:extLst>
          </p:cNvPr>
          <p:cNvSpPr txBox="1"/>
          <p:nvPr/>
        </p:nvSpPr>
        <p:spPr>
          <a:xfrm>
            <a:off x="9499600" y="3810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15000" b="1">
                <a:solidFill>
                  <a:srgbClr val="12233A"/>
                </a:solidFill>
                <a:latin typeface="Segoe UI" panose="020B0502040204020203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6061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58229407-CF87-4C6E-BE6A-756B119EE7E4}"/>
              </a:ext>
            </a:extLst>
          </p:cNvPr>
          <p:cNvSpPr/>
          <p:nvPr/>
        </p:nvSpPr>
        <p:spPr>
          <a:xfrm>
            <a:off x="812800" y="330200"/>
            <a:ext cx="76200" cy="76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2CE6B5-A01C-44FF-AB6C-C0A7AD61EB77}"/>
              </a:ext>
            </a:extLst>
          </p:cNvPr>
          <p:cNvSpPr txBox="1"/>
          <p:nvPr/>
        </p:nvSpPr>
        <p:spPr>
          <a:xfrm>
            <a:off x="990600" y="2159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00" b="1">
                <a:solidFill>
                  <a:srgbClr val="22D3EE"/>
                </a:solidFill>
                <a:latin typeface="Segoe UI" panose="020B0502040204020203" pitchFamily="34" charset="0"/>
              </a:rPr>
              <a:t>02 · АРХИТЕКТУРА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4F32400-9B5B-4729-98E1-895A7887A195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3000" b="1">
                <a:solidFill>
                  <a:srgbClr val="E8EEF7"/>
                </a:solidFill>
                <a:latin typeface="Segoe UI" panose="020B0502040204020203" pitchFamily="34" charset="0"/>
              </a:rPr>
              <a:t>Архитектура</a:t>
            </a: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DEFB60F4-1ED5-4C3B-BEC7-C580327C9C80}"/>
              </a:ext>
            </a:extLst>
          </p:cNvPr>
          <p:cNvSpPr/>
          <p:nvPr/>
        </p:nvSpPr>
        <p:spPr>
          <a:xfrm>
            <a:off x="812800" y="1422400"/>
            <a:ext cx="6604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105431E8-02C8-4D95-945E-C6602172A317}"/>
              </a:ext>
            </a:extLst>
          </p:cNvPr>
          <p:cNvCxnSpPr/>
          <p:nvPr/>
        </p:nvCxnSpPr>
        <p:spPr>
          <a:xfrm>
            <a:off x="812800" y="6400800"/>
            <a:ext cx="10566400" cy="0"/>
          </a:xfrm>
          <a:prstGeom prst="line">
            <a:avLst/>
          </a:prstGeom>
          <a:ln w="9525">
            <a:solidFill>
              <a:srgbClr val="263A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AE275CD-7A8F-4F14-BE32-FF90D79FE45E}"/>
              </a:ext>
            </a:extLst>
          </p:cNvPr>
          <p:cNvSpPr txBox="1"/>
          <p:nvPr/>
        </p:nvSpPr>
        <p:spPr>
          <a:xfrm>
            <a:off x="812800" y="64643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MCP-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мост </a:t>
            </a:r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Office</a:t>
            </a:r>
            <a:endParaRPr lang="ru-RU" sz="900">
              <a:solidFill>
                <a:srgbClr val="6F8199"/>
              </a:solidFill>
              <a:latin typeface="Segoe UI" panose="020B0502040204020203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71C7CCA-9BAD-43C7-A18B-C4B09C716FBA}"/>
              </a:ext>
            </a:extLst>
          </p:cNvPr>
          <p:cNvSpPr txBox="1"/>
          <p:nvPr/>
        </p:nvSpPr>
        <p:spPr>
          <a:xfrm>
            <a:off x="10109200" y="64643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02 / 09</a:t>
            </a:r>
          </a:p>
        </p:txBody>
      </p:sp>
      <p:sp>
        <p:nvSpPr>
          <p:cNvPr id="81" name="Прямоугольник: скругленные углы 80">
            <a:extLst>
              <a:ext uri="{FF2B5EF4-FFF2-40B4-BE49-F238E27FC236}">
                <a16:creationId xmlns:a16="http://schemas.microsoft.com/office/drawing/2014/main" id="{C7D527C5-EDB2-442A-A13E-E61507266863}"/>
              </a:ext>
            </a:extLst>
          </p:cNvPr>
          <p:cNvSpPr/>
          <p:nvPr/>
        </p:nvSpPr>
        <p:spPr>
          <a:xfrm>
            <a:off x="812800" y="2286000"/>
            <a:ext cx="2362200" cy="21590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7F1E915B-1A5B-4FF7-8821-188B339E39BA}"/>
              </a:ext>
            </a:extLst>
          </p:cNvPr>
          <p:cNvSpPr/>
          <p:nvPr/>
        </p:nvSpPr>
        <p:spPr>
          <a:xfrm>
            <a:off x="1016000" y="2298700"/>
            <a:ext cx="19558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803772E-7995-419D-B9F6-9B4FC230B4E9}"/>
              </a:ext>
            </a:extLst>
          </p:cNvPr>
          <p:cNvSpPr txBox="1"/>
          <p:nvPr/>
        </p:nvSpPr>
        <p:spPr>
          <a:xfrm>
            <a:off x="1041400" y="25146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00" b="1">
                <a:solidFill>
                  <a:srgbClr val="6F8199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8A187BD-51DD-4B0A-AC9C-1A294B699938}"/>
              </a:ext>
            </a:extLst>
          </p:cNvPr>
          <p:cNvSpPr txBox="1"/>
          <p:nvPr/>
        </p:nvSpPr>
        <p:spPr>
          <a:xfrm>
            <a:off x="1041400" y="2794000"/>
            <a:ext cx="190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2000" b="1">
                <a:solidFill>
                  <a:srgbClr val="E8EEF7"/>
                </a:solidFill>
                <a:latin typeface="Segoe UI" panose="020B0502040204020203" pitchFamily="34" charset="0"/>
              </a:rPr>
              <a:t>Чат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C57EF8-2A2E-4778-8756-6FBB0AD623A9}"/>
              </a:ext>
            </a:extLst>
          </p:cNvPr>
          <p:cNvSpPr txBox="1"/>
          <p:nvPr/>
        </p:nvSpPr>
        <p:spPr>
          <a:xfrm>
            <a:off x="1041400" y="3276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>
                <a:solidFill>
                  <a:srgbClr val="9FB0C7"/>
                </a:solidFill>
                <a:latin typeface="Segoe UI" panose="020B0502040204020203" pitchFamily="34" charset="0"/>
              </a:rPr>
              <a:t>OpenCode</a:t>
            </a:r>
          </a:p>
          <a:p>
            <a:r>
              <a:rPr lang="ru-RU" sz="1200">
                <a:solidFill>
                  <a:srgbClr val="9FB0C7"/>
                </a:solidFill>
                <a:latin typeface="Segoe UI" panose="020B0502040204020203" pitchFamily="34" charset="0"/>
              </a:rPr>
              <a:t>любая сессия</a:t>
            </a:r>
          </a:p>
        </p:txBody>
      </p:sp>
      <p:sp>
        <p:nvSpPr>
          <p:cNvPr id="86" name="Прямоугольник: скругленные углы 85">
            <a:extLst>
              <a:ext uri="{FF2B5EF4-FFF2-40B4-BE49-F238E27FC236}">
                <a16:creationId xmlns:a16="http://schemas.microsoft.com/office/drawing/2014/main" id="{A97140C1-CA38-49AA-A147-06AF642F2B7E}"/>
              </a:ext>
            </a:extLst>
          </p:cNvPr>
          <p:cNvSpPr/>
          <p:nvPr/>
        </p:nvSpPr>
        <p:spPr>
          <a:xfrm>
            <a:off x="3530600" y="2286000"/>
            <a:ext cx="2362200" cy="21590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Прямоугольник 86">
            <a:extLst>
              <a:ext uri="{FF2B5EF4-FFF2-40B4-BE49-F238E27FC236}">
                <a16:creationId xmlns:a16="http://schemas.microsoft.com/office/drawing/2014/main" id="{5235FC8B-4DB7-4D4C-94A9-45B5BABDD513}"/>
              </a:ext>
            </a:extLst>
          </p:cNvPr>
          <p:cNvSpPr/>
          <p:nvPr/>
        </p:nvSpPr>
        <p:spPr>
          <a:xfrm>
            <a:off x="3733800" y="2298700"/>
            <a:ext cx="1955800" cy="381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E6F0F07-155B-4683-80DC-8D6557D290DE}"/>
              </a:ext>
            </a:extLst>
          </p:cNvPr>
          <p:cNvSpPr txBox="1"/>
          <p:nvPr/>
        </p:nvSpPr>
        <p:spPr>
          <a:xfrm>
            <a:off x="3759200" y="25146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00" b="1">
                <a:solidFill>
                  <a:srgbClr val="6F8199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AC8D9A9-8868-4F3E-ABCC-7E5F60C5F118}"/>
              </a:ext>
            </a:extLst>
          </p:cNvPr>
          <p:cNvSpPr txBox="1"/>
          <p:nvPr/>
        </p:nvSpPr>
        <p:spPr>
          <a:xfrm>
            <a:off x="3759200" y="2794000"/>
            <a:ext cx="190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E8EEF7"/>
                </a:solidFill>
                <a:latin typeface="Segoe UI" panose="020B0502040204020203" pitchFamily="34" charset="0"/>
              </a:rPr>
              <a:t>MCP-</a:t>
            </a:r>
            <a:r>
              <a:rPr lang="ru-RU" sz="2000" b="1">
                <a:solidFill>
                  <a:srgbClr val="E8EEF7"/>
                </a:solidFill>
                <a:latin typeface="Segoe UI" panose="020B0502040204020203" pitchFamily="34" charset="0"/>
              </a:rPr>
              <a:t>сервер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12205-CEDC-4CF7-9CED-8AF4851F58EA}"/>
              </a:ext>
            </a:extLst>
          </p:cNvPr>
          <p:cNvSpPr txBox="1"/>
          <p:nvPr/>
        </p:nvSpPr>
        <p:spPr>
          <a:xfrm>
            <a:off x="3759200" y="3276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>
                <a:solidFill>
                  <a:srgbClr val="9FB0C7"/>
                </a:solidFill>
                <a:latin typeface="Segoe UI" panose="020B0502040204020203" pitchFamily="34" charset="0"/>
              </a:rPr>
              <a:t>stdio</a:t>
            </a:r>
          </a:p>
          <a:p>
            <a:r>
              <a:rPr lang="en-US" sz="1200">
                <a:solidFill>
                  <a:srgbClr val="9FB0C7"/>
                </a:solidFill>
                <a:latin typeface="Segoe UI" panose="020B0502040204020203" pitchFamily="34" charset="0"/>
              </a:rPr>
              <a:t>53 </a:t>
            </a:r>
            <a:r>
              <a:rPr lang="ru-RU" sz="1200">
                <a:solidFill>
                  <a:srgbClr val="9FB0C7"/>
                </a:solidFill>
                <a:latin typeface="Segoe UI" panose="020B0502040204020203" pitchFamily="34" charset="0"/>
              </a:rPr>
              <a:t>инструмента</a:t>
            </a:r>
          </a:p>
        </p:txBody>
      </p:sp>
      <p:sp>
        <p:nvSpPr>
          <p:cNvPr id="91" name="Прямоугольник: скругленные углы 90">
            <a:extLst>
              <a:ext uri="{FF2B5EF4-FFF2-40B4-BE49-F238E27FC236}">
                <a16:creationId xmlns:a16="http://schemas.microsoft.com/office/drawing/2014/main" id="{44497686-7739-4619-B074-BE5DFB93600C}"/>
              </a:ext>
            </a:extLst>
          </p:cNvPr>
          <p:cNvSpPr/>
          <p:nvPr/>
        </p:nvSpPr>
        <p:spPr>
          <a:xfrm>
            <a:off x="6248400" y="2286000"/>
            <a:ext cx="2362200" cy="21590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CF6ECCF0-3AEC-4405-ADF1-158B1746DFF0}"/>
              </a:ext>
            </a:extLst>
          </p:cNvPr>
          <p:cNvSpPr/>
          <p:nvPr/>
        </p:nvSpPr>
        <p:spPr>
          <a:xfrm>
            <a:off x="6451600" y="2298700"/>
            <a:ext cx="1955800" cy="38100"/>
          </a:xfrm>
          <a:prstGeom prst="rect">
            <a:avLst/>
          </a:prstGeom>
          <a:solidFill>
            <a:srgbClr val="F5A5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0D21750-6FE9-40D8-B435-1E0E0E8CC60A}"/>
              </a:ext>
            </a:extLst>
          </p:cNvPr>
          <p:cNvSpPr txBox="1"/>
          <p:nvPr/>
        </p:nvSpPr>
        <p:spPr>
          <a:xfrm>
            <a:off x="6477000" y="25146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00" b="1">
                <a:solidFill>
                  <a:srgbClr val="6F8199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EBF6947-E225-4F08-922D-1C2DEE0D5B70}"/>
              </a:ext>
            </a:extLst>
          </p:cNvPr>
          <p:cNvSpPr txBox="1"/>
          <p:nvPr/>
        </p:nvSpPr>
        <p:spPr>
          <a:xfrm>
            <a:off x="6477000" y="2794000"/>
            <a:ext cx="190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E8EEF7"/>
                </a:solidFill>
                <a:latin typeface="Segoe UI" panose="020B0502040204020203" pitchFamily="34" charset="0"/>
              </a:rPr>
              <a:t>COM-</a:t>
            </a:r>
            <a:r>
              <a:rPr lang="ru-RU" sz="2000" b="1">
                <a:solidFill>
                  <a:srgbClr val="E8EEF7"/>
                </a:solidFill>
                <a:latin typeface="Segoe UI" panose="020B0502040204020203" pitchFamily="34" charset="0"/>
              </a:rPr>
              <a:t>поток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A466B0-06DF-429A-8211-3AD64DA08140}"/>
              </a:ext>
            </a:extLst>
          </p:cNvPr>
          <p:cNvSpPr txBox="1"/>
          <p:nvPr/>
        </p:nvSpPr>
        <p:spPr>
          <a:xfrm>
            <a:off x="6477000" y="3276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>
                <a:solidFill>
                  <a:srgbClr val="9FB0C7"/>
                </a:solidFill>
                <a:latin typeface="Segoe UI" panose="020B0502040204020203" pitchFamily="34" charset="0"/>
              </a:rPr>
              <a:t>STA</a:t>
            </a:r>
          </a:p>
          <a:p>
            <a:r>
              <a:rPr lang="ru-RU" sz="1200">
                <a:solidFill>
                  <a:srgbClr val="9FB0C7"/>
                </a:solidFill>
                <a:latin typeface="Segoe UI" panose="020B0502040204020203" pitchFamily="34" charset="0"/>
              </a:rPr>
              <a:t>очередь задач</a:t>
            </a:r>
          </a:p>
        </p:txBody>
      </p:sp>
      <p:sp>
        <p:nvSpPr>
          <p:cNvPr id="96" name="Прямоугольник: скругленные углы 95">
            <a:extLst>
              <a:ext uri="{FF2B5EF4-FFF2-40B4-BE49-F238E27FC236}">
                <a16:creationId xmlns:a16="http://schemas.microsoft.com/office/drawing/2014/main" id="{D30846AD-5ABC-4E24-AB5E-F6D0255D354B}"/>
              </a:ext>
            </a:extLst>
          </p:cNvPr>
          <p:cNvSpPr/>
          <p:nvPr/>
        </p:nvSpPr>
        <p:spPr>
          <a:xfrm>
            <a:off x="8966200" y="2286000"/>
            <a:ext cx="2362200" cy="21590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53A4CEF9-6861-404E-9390-A9124180834A}"/>
              </a:ext>
            </a:extLst>
          </p:cNvPr>
          <p:cNvSpPr/>
          <p:nvPr/>
        </p:nvSpPr>
        <p:spPr>
          <a:xfrm>
            <a:off x="9169400" y="2298700"/>
            <a:ext cx="1955800" cy="38100"/>
          </a:xfrm>
          <a:prstGeom prst="rect">
            <a:avLst/>
          </a:prstGeom>
          <a:solidFill>
            <a:srgbClr val="FB71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2995934-9727-4A51-9562-D8D085B7C314}"/>
              </a:ext>
            </a:extLst>
          </p:cNvPr>
          <p:cNvSpPr txBox="1"/>
          <p:nvPr/>
        </p:nvSpPr>
        <p:spPr>
          <a:xfrm>
            <a:off x="9194800" y="25146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00" b="1">
                <a:solidFill>
                  <a:srgbClr val="6F8199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124B74E-1805-42F4-B6EC-D02C87BDCE9D}"/>
              </a:ext>
            </a:extLst>
          </p:cNvPr>
          <p:cNvSpPr txBox="1"/>
          <p:nvPr/>
        </p:nvSpPr>
        <p:spPr>
          <a:xfrm>
            <a:off x="9194800" y="2794000"/>
            <a:ext cx="190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E8EEF7"/>
                </a:solidFill>
                <a:latin typeface="Segoe UI" panose="020B0502040204020203" pitchFamily="34" charset="0"/>
              </a:rPr>
              <a:t>Office</a:t>
            </a:r>
            <a:endParaRPr lang="ru-RU" sz="2000" b="1">
              <a:solidFill>
                <a:srgbClr val="E8EEF7"/>
              </a:solidFill>
              <a:latin typeface="Segoe UI" panose="020B0502040204020203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828CB92-6D98-4D15-B39D-03A2459A75AB}"/>
              </a:ext>
            </a:extLst>
          </p:cNvPr>
          <p:cNvSpPr txBox="1"/>
          <p:nvPr/>
        </p:nvSpPr>
        <p:spPr>
          <a:xfrm>
            <a:off x="9194800" y="3276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>
                <a:solidFill>
                  <a:srgbClr val="9FB0C7"/>
                </a:solidFill>
                <a:latin typeface="Segoe UI" panose="020B0502040204020203" pitchFamily="34" charset="0"/>
              </a:rPr>
              <a:t>Word · Excel</a:t>
            </a:r>
          </a:p>
          <a:p>
            <a:r>
              <a:rPr lang="en-US" sz="1200">
                <a:solidFill>
                  <a:srgbClr val="9FB0C7"/>
                </a:solidFill>
                <a:latin typeface="Segoe UI" panose="020B0502040204020203" pitchFamily="34" charset="0"/>
              </a:rPr>
              <a:t>PowerPoint</a:t>
            </a:r>
            <a:endParaRPr lang="ru-RU" sz="1200">
              <a:solidFill>
                <a:srgbClr val="9FB0C7"/>
              </a:solidFill>
              <a:latin typeface="Segoe UI" panose="020B0502040204020203" pitchFamily="34" charset="0"/>
            </a:endParaRPr>
          </a:p>
        </p:txBody>
      </p:sp>
      <p:sp>
        <p:nvSpPr>
          <p:cNvPr id="101" name="Стрелка: вправо 100">
            <a:extLst>
              <a:ext uri="{FF2B5EF4-FFF2-40B4-BE49-F238E27FC236}">
                <a16:creationId xmlns:a16="http://schemas.microsoft.com/office/drawing/2014/main" id="{018F819C-BAC1-4BF9-9194-9BF70D7A529A}"/>
              </a:ext>
            </a:extLst>
          </p:cNvPr>
          <p:cNvSpPr/>
          <p:nvPr/>
        </p:nvSpPr>
        <p:spPr>
          <a:xfrm>
            <a:off x="3225800" y="3175000"/>
            <a:ext cx="254000" cy="304800"/>
          </a:xfrm>
          <a:prstGeom prst="rightArrow">
            <a:avLst/>
          </a:prstGeom>
          <a:solidFill>
            <a:srgbClr val="1E4E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2" name="Стрелка: вправо 101">
            <a:extLst>
              <a:ext uri="{FF2B5EF4-FFF2-40B4-BE49-F238E27FC236}">
                <a16:creationId xmlns:a16="http://schemas.microsoft.com/office/drawing/2014/main" id="{87F26141-AFC7-46E0-9DEE-928E54F7F876}"/>
              </a:ext>
            </a:extLst>
          </p:cNvPr>
          <p:cNvSpPr/>
          <p:nvPr/>
        </p:nvSpPr>
        <p:spPr>
          <a:xfrm>
            <a:off x="5943600" y="3175000"/>
            <a:ext cx="254000" cy="304800"/>
          </a:xfrm>
          <a:prstGeom prst="rightArrow">
            <a:avLst/>
          </a:prstGeom>
          <a:solidFill>
            <a:srgbClr val="1E4E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3" name="Стрелка: вправо 102">
            <a:extLst>
              <a:ext uri="{FF2B5EF4-FFF2-40B4-BE49-F238E27FC236}">
                <a16:creationId xmlns:a16="http://schemas.microsoft.com/office/drawing/2014/main" id="{82D3D607-7FF5-4986-B83E-5718956CAA19}"/>
              </a:ext>
            </a:extLst>
          </p:cNvPr>
          <p:cNvSpPr/>
          <p:nvPr/>
        </p:nvSpPr>
        <p:spPr>
          <a:xfrm>
            <a:off x="8661400" y="3175000"/>
            <a:ext cx="254000" cy="304800"/>
          </a:xfrm>
          <a:prstGeom prst="rightArrow">
            <a:avLst/>
          </a:prstGeom>
          <a:solidFill>
            <a:srgbClr val="1E4E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7" name="Прямоугольник: скругленные углы 136">
            <a:extLst>
              <a:ext uri="{FF2B5EF4-FFF2-40B4-BE49-F238E27FC236}">
                <a16:creationId xmlns:a16="http://schemas.microsoft.com/office/drawing/2014/main" id="{C3165D6B-4D5B-4DE5-9848-88FA096707C2}"/>
              </a:ext>
            </a:extLst>
          </p:cNvPr>
          <p:cNvSpPr/>
          <p:nvPr/>
        </p:nvSpPr>
        <p:spPr>
          <a:xfrm>
            <a:off x="812800" y="4851400"/>
            <a:ext cx="10515600" cy="914400"/>
          </a:xfrm>
          <a:prstGeom prst="roundRect">
            <a:avLst/>
          </a:prstGeom>
          <a:solidFill>
            <a:srgbClr val="0D1A2B"/>
          </a:solidFill>
          <a:ln w="9525">
            <a:solidFill>
              <a:srgbClr val="1B2C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34EE305-7BEB-4304-8280-BF35B270689A}"/>
              </a:ext>
            </a:extLst>
          </p:cNvPr>
          <p:cNvSpPr txBox="1"/>
          <p:nvPr/>
        </p:nvSpPr>
        <p:spPr>
          <a:xfrm>
            <a:off x="1117600" y="50038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500" b="1">
                <a:solidFill>
                  <a:srgbClr val="E8EEF7"/>
                </a:solidFill>
                <a:latin typeface="Segoe UI" panose="020B0502040204020203" pitchFamily="34" charset="0"/>
              </a:rPr>
              <a:t>Вызов инструмента  →  </a:t>
            </a:r>
            <a:r>
              <a:rPr lang="en-US" sz="1500" b="1">
                <a:solidFill>
                  <a:srgbClr val="E8EEF7"/>
                </a:solidFill>
                <a:latin typeface="Segoe UI" panose="020B0502040204020203" pitchFamily="34" charset="0"/>
              </a:rPr>
              <a:t>JSON-</a:t>
            </a:r>
            <a:r>
              <a:rPr lang="ru-RU" sz="1500" b="1">
                <a:solidFill>
                  <a:srgbClr val="E8EEF7"/>
                </a:solidFill>
                <a:latin typeface="Segoe UI" panose="020B0502040204020203" pitchFamily="34" charset="0"/>
              </a:rPr>
              <a:t>ответ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8804E09-4258-49C6-B0FC-08F330B9E04D}"/>
              </a:ext>
            </a:extLst>
          </p:cNvPr>
          <p:cNvSpPr txBox="1"/>
          <p:nvPr/>
        </p:nvSpPr>
        <p:spPr>
          <a:xfrm>
            <a:off x="1117600" y="53340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100">
                <a:solidFill>
                  <a:srgbClr val="9FB0C7"/>
                </a:solidFill>
                <a:latin typeface="Segoe UI" panose="020B0502040204020203" pitchFamily="34" charset="0"/>
              </a:rPr>
              <a:t>Один COM-поток, последовательные операции, понятные ошибки</a:t>
            </a:r>
          </a:p>
        </p:txBody>
      </p:sp>
    </p:spTree>
    <p:extLst>
      <p:ext uri="{BB962C8B-B14F-4D97-AF65-F5344CB8AC3E}">
        <p14:creationId xmlns:p14="http://schemas.microsoft.com/office/powerpoint/2010/main" val="179020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F176CEB-EC87-48D6-B4DA-293FB2AB0F57}"/>
              </a:ext>
            </a:extLst>
          </p:cNvPr>
          <p:cNvSpPr/>
          <p:nvPr/>
        </p:nvSpPr>
        <p:spPr>
          <a:xfrm>
            <a:off x="812800" y="330200"/>
            <a:ext cx="76200" cy="76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63866B-755A-4278-A86B-C82C025AD836}"/>
              </a:ext>
            </a:extLst>
          </p:cNvPr>
          <p:cNvSpPr txBox="1"/>
          <p:nvPr/>
        </p:nvSpPr>
        <p:spPr>
          <a:xfrm>
            <a:off x="990600" y="2159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00" b="1">
                <a:solidFill>
                  <a:srgbClr val="22D3EE"/>
                </a:solidFill>
                <a:latin typeface="Segoe UI" panose="020B0502040204020203" pitchFamily="34" charset="0"/>
              </a:rPr>
              <a:t>03 · ИСПОЛНЕНИЕ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BC8BB0-55D8-4167-9B32-8F0A77FF1296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3000" b="1">
                <a:solidFill>
                  <a:srgbClr val="E8EEF7"/>
                </a:solidFill>
                <a:latin typeface="Segoe UI" panose="020B0502040204020203" pitchFamily="34" charset="0"/>
              </a:rPr>
              <a:t>Почему отдельный </a:t>
            </a:r>
            <a:r>
              <a:rPr lang="en-US" sz="3000" b="1">
                <a:solidFill>
                  <a:srgbClr val="E8EEF7"/>
                </a:solidFill>
                <a:latin typeface="Segoe UI" panose="020B0502040204020203" pitchFamily="34" charset="0"/>
              </a:rPr>
              <a:t>COM-</a:t>
            </a:r>
            <a:r>
              <a:rPr lang="ru-RU" sz="3000" b="1">
                <a:solidFill>
                  <a:srgbClr val="E8EEF7"/>
                </a:solidFill>
                <a:latin typeface="Segoe UI" panose="020B0502040204020203" pitchFamily="34" charset="0"/>
              </a:rPr>
              <a:t>поток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B87DC57-2B05-4228-92B4-E331E0320377}"/>
              </a:ext>
            </a:extLst>
          </p:cNvPr>
          <p:cNvSpPr/>
          <p:nvPr/>
        </p:nvSpPr>
        <p:spPr>
          <a:xfrm>
            <a:off x="812800" y="1422400"/>
            <a:ext cx="6604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F63FE984-5D62-40DA-B56A-43ED0B5CABE6}"/>
              </a:ext>
            </a:extLst>
          </p:cNvPr>
          <p:cNvCxnSpPr/>
          <p:nvPr/>
        </p:nvCxnSpPr>
        <p:spPr>
          <a:xfrm>
            <a:off x="812800" y="6400800"/>
            <a:ext cx="10566400" cy="0"/>
          </a:xfrm>
          <a:prstGeom prst="line">
            <a:avLst/>
          </a:prstGeom>
          <a:ln w="9525">
            <a:solidFill>
              <a:srgbClr val="263A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BA5A214-A1B1-437D-805E-2A57D198F6B3}"/>
              </a:ext>
            </a:extLst>
          </p:cNvPr>
          <p:cNvSpPr txBox="1"/>
          <p:nvPr/>
        </p:nvSpPr>
        <p:spPr>
          <a:xfrm>
            <a:off x="812800" y="64643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MCP-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мост </a:t>
            </a:r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Office</a:t>
            </a:r>
            <a:endParaRPr lang="ru-RU" sz="900">
              <a:solidFill>
                <a:srgbClr val="6F8199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67F6BF-FAFD-4E77-8CE4-846507CCDF84}"/>
              </a:ext>
            </a:extLst>
          </p:cNvPr>
          <p:cNvSpPr txBox="1"/>
          <p:nvPr/>
        </p:nvSpPr>
        <p:spPr>
          <a:xfrm>
            <a:off x="10109200" y="64643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03 / 09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C754ABC1-CB76-4693-A0FD-AD816CDD7C38}"/>
              </a:ext>
            </a:extLst>
          </p:cNvPr>
          <p:cNvSpPr/>
          <p:nvPr/>
        </p:nvSpPr>
        <p:spPr>
          <a:xfrm>
            <a:off x="812800" y="20701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0BE842-4FC4-47AC-A485-A237BC89414D}"/>
              </a:ext>
            </a:extLst>
          </p:cNvPr>
          <p:cNvSpPr txBox="1"/>
          <p:nvPr/>
        </p:nvSpPr>
        <p:spPr>
          <a:xfrm>
            <a:off x="1066800" y="19812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D6E2F2"/>
                </a:solidFill>
                <a:latin typeface="Segoe UI" panose="020B0502040204020203" pitchFamily="34" charset="0"/>
              </a:rPr>
              <a:t>Office — apartment-bound COM-серверы: вызовы из разных потоков ненадёжны.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28975162-6A73-4D07-9A79-604E6410A02A}"/>
              </a:ext>
            </a:extLst>
          </p:cNvPr>
          <p:cNvSpPr/>
          <p:nvPr/>
        </p:nvSpPr>
        <p:spPr>
          <a:xfrm>
            <a:off x="812800" y="30607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B29407-6897-43E8-932F-1D4F41D92E52}"/>
              </a:ext>
            </a:extLst>
          </p:cNvPr>
          <p:cNvSpPr txBox="1"/>
          <p:nvPr/>
        </p:nvSpPr>
        <p:spPr>
          <a:xfrm>
            <a:off x="1066800" y="29718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D6E2F2"/>
                </a:solidFill>
                <a:latin typeface="Segoe UI" panose="020B0502040204020203" pitchFamily="34" charset="0"/>
              </a:rPr>
              <a:t>Все операции идут через один STA-поток и очередь задач.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B4C51BF-B316-40BA-87B1-742680A64DCC}"/>
              </a:ext>
            </a:extLst>
          </p:cNvPr>
          <p:cNvSpPr/>
          <p:nvPr/>
        </p:nvSpPr>
        <p:spPr>
          <a:xfrm>
            <a:off x="812800" y="40513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2C1EEF-A138-4621-9F1F-277C3978FE02}"/>
              </a:ext>
            </a:extLst>
          </p:cNvPr>
          <p:cNvSpPr txBox="1"/>
          <p:nvPr/>
        </p:nvSpPr>
        <p:spPr>
          <a:xfrm>
            <a:off x="1066800" y="39624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D6E2F2"/>
                </a:solidFill>
                <a:latin typeface="Segoe UI" panose="020B0502040204020203" pitchFamily="34" charset="0"/>
              </a:rPr>
              <a:t>Занятые вызовы повторяются; таймаут 180 с ловит модальные диалоги.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6B4BD2C0-D832-4DB9-8FA3-0E62AB87861C}"/>
              </a:ext>
            </a:extLst>
          </p:cNvPr>
          <p:cNvSpPr/>
          <p:nvPr/>
        </p:nvSpPr>
        <p:spPr>
          <a:xfrm>
            <a:off x="812800" y="50419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2F4073-6460-4947-BCAA-C85ED28FE8CE}"/>
              </a:ext>
            </a:extLst>
          </p:cNvPr>
          <p:cNvSpPr txBox="1"/>
          <p:nvPr/>
        </p:nvSpPr>
        <p:spPr>
          <a:xfrm>
            <a:off x="1066800" y="49530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D6E2F2"/>
                </a:solidFill>
                <a:latin typeface="Segoe UI" panose="020B0502040204020203" pitchFamily="34" charset="0"/>
              </a:rPr>
              <a:t>Приложение переиспользуется: GetActiveObject или DispatchEx.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EC1DBF-394D-4BDD-AF12-6935C694D6E5}"/>
              </a:ext>
            </a:extLst>
          </p:cNvPr>
          <p:cNvSpPr txBox="1"/>
          <p:nvPr/>
        </p:nvSpPr>
        <p:spPr>
          <a:xfrm>
            <a:off x="9499600" y="3810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15000" b="1">
                <a:solidFill>
                  <a:srgbClr val="12233A"/>
                </a:solidFill>
                <a:latin typeface="Segoe UI" panose="020B0502040204020203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3798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2C8120EB-4C0A-4FE8-BEEC-0C1732CDDA0C}"/>
              </a:ext>
            </a:extLst>
          </p:cNvPr>
          <p:cNvSpPr/>
          <p:nvPr/>
        </p:nvSpPr>
        <p:spPr>
          <a:xfrm>
            <a:off x="812800" y="330200"/>
            <a:ext cx="76200" cy="76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6721182-EAAC-404B-B292-D9D6CC1AD319}"/>
              </a:ext>
            </a:extLst>
          </p:cNvPr>
          <p:cNvSpPr txBox="1"/>
          <p:nvPr/>
        </p:nvSpPr>
        <p:spPr>
          <a:xfrm>
            <a:off x="990600" y="2159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00" b="1">
                <a:solidFill>
                  <a:srgbClr val="22D3EE"/>
                </a:solidFill>
                <a:latin typeface="Segoe UI" panose="020B0502040204020203" pitchFamily="34" charset="0"/>
              </a:rPr>
              <a:t>04 · КООРДИНАЦИЯ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BAE46A-1C7F-4D22-BD7E-2E7283C54997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3000" b="1">
                <a:solidFill>
                  <a:srgbClr val="E8EEF7"/>
                </a:solidFill>
                <a:latin typeface="Segoe UI" panose="020B0502040204020203" pitchFamily="34" charset="0"/>
              </a:rPr>
              <a:t>Один мост — несколько чатов</a:t>
            </a: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A36AABB6-B4CC-402B-AC0B-0FFB33647C8A}"/>
              </a:ext>
            </a:extLst>
          </p:cNvPr>
          <p:cNvSpPr/>
          <p:nvPr/>
        </p:nvSpPr>
        <p:spPr>
          <a:xfrm>
            <a:off x="812800" y="1422400"/>
            <a:ext cx="6604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3D03345A-EBF6-4C1C-A696-02CB14BE5ECF}"/>
              </a:ext>
            </a:extLst>
          </p:cNvPr>
          <p:cNvCxnSpPr/>
          <p:nvPr/>
        </p:nvCxnSpPr>
        <p:spPr>
          <a:xfrm>
            <a:off x="812800" y="6400800"/>
            <a:ext cx="10566400" cy="0"/>
          </a:xfrm>
          <a:prstGeom prst="line">
            <a:avLst/>
          </a:prstGeom>
          <a:ln w="9525">
            <a:solidFill>
              <a:srgbClr val="263A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F767AD7-FFEF-4FDB-B4E6-456631CE131B}"/>
              </a:ext>
            </a:extLst>
          </p:cNvPr>
          <p:cNvSpPr txBox="1"/>
          <p:nvPr/>
        </p:nvSpPr>
        <p:spPr>
          <a:xfrm>
            <a:off x="812800" y="64643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MCP-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мост </a:t>
            </a:r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Office</a:t>
            </a:r>
            <a:endParaRPr lang="ru-RU" sz="900">
              <a:solidFill>
                <a:srgbClr val="6F8199"/>
              </a:solidFill>
              <a:latin typeface="Segoe UI" panose="020B0502040204020203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4499D7A-AB54-47B0-83B6-C941BAA72159}"/>
              </a:ext>
            </a:extLst>
          </p:cNvPr>
          <p:cNvSpPr txBox="1"/>
          <p:nvPr/>
        </p:nvSpPr>
        <p:spPr>
          <a:xfrm>
            <a:off x="10109200" y="64643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04 / 09</a:t>
            </a:r>
          </a:p>
        </p:txBody>
      </p:sp>
      <p:sp>
        <p:nvSpPr>
          <p:cNvPr id="81" name="Прямоугольник: скругленные углы 80">
            <a:extLst>
              <a:ext uri="{FF2B5EF4-FFF2-40B4-BE49-F238E27FC236}">
                <a16:creationId xmlns:a16="http://schemas.microsoft.com/office/drawing/2014/main" id="{AAE66150-5294-4BB5-90D9-3B3858794DAE}"/>
              </a:ext>
            </a:extLst>
          </p:cNvPr>
          <p:cNvSpPr/>
          <p:nvPr/>
        </p:nvSpPr>
        <p:spPr>
          <a:xfrm>
            <a:off x="812800" y="2095500"/>
            <a:ext cx="2794000" cy="9906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id="{A182CE1B-AC21-43D4-8964-CDBADA9ECA91}"/>
              </a:ext>
            </a:extLst>
          </p:cNvPr>
          <p:cNvSpPr/>
          <p:nvPr/>
        </p:nvSpPr>
        <p:spPr>
          <a:xfrm>
            <a:off x="1041400" y="2349500"/>
            <a:ext cx="127000" cy="127000"/>
          </a:xfrm>
          <a:prstGeom prst="ellipse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07596A3-1D65-4626-9A14-8974561C9F2C}"/>
              </a:ext>
            </a:extLst>
          </p:cNvPr>
          <p:cNvSpPr txBox="1"/>
          <p:nvPr/>
        </p:nvSpPr>
        <p:spPr>
          <a:xfrm>
            <a:off x="1295400" y="22479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600" b="1">
                <a:solidFill>
                  <a:srgbClr val="E8EEF7"/>
                </a:solidFill>
                <a:latin typeface="Segoe UI" panose="020B0502040204020203" pitchFamily="34" charset="0"/>
              </a:rPr>
              <a:t>Чат 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E30B6F-521B-4944-8C15-0BF36D8F266D}"/>
              </a:ext>
            </a:extLst>
          </p:cNvPr>
          <p:cNvSpPr txBox="1"/>
          <p:nvPr/>
        </p:nvSpPr>
        <p:spPr>
          <a:xfrm>
            <a:off x="1295400" y="26035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OpenCode · 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сессия 1</a:t>
            </a:r>
          </a:p>
        </p:txBody>
      </p: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EB846A58-C815-4E30-8980-F52BA7731A2B}"/>
              </a:ext>
            </a:extLst>
          </p:cNvPr>
          <p:cNvCxnSpPr/>
          <p:nvPr/>
        </p:nvCxnSpPr>
        <p:spPr>
          <a:xfrm>
            <a:off x="3606800" y="2590800"/>
            <a:ext cx="457200" cy="0"/>
          </a:xfrm>
          <a:prstGeom prst="line">
            <a:avLst/>
          </a:prstGeom>
          <a:ln w="19050">
            <a:solidFill>
              <a:srgbClr val="1E4E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Прямоугольник: скругленные углы 85">
            <a:extLst>
              <a:ext uri="{FF2B5EF4-FFF2-40B4-BE49-F238E27FC236}">
                <a16:creationId xmlns:a16="http://schemas.microsoft.com/office/drawing/2014/main" id="{660D0C79-D92F-41CC-8B7F-C379AF0D686E}"/>
              </a:ext>
            </a:extLst>
          </p:cNvPr>
          <p:cNvSpPr/>
          <p:nvPr/>
        </p:nvSpPr>
        <p:spPr>
          <a:xfrm>
            <a:off x="812800" y="3238500"/>
            <a:ext cx="2794000" cy="9906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Овал 86">
            <a:extLst>
              <a:ext uri="{FF2B5EF4-FFF2-40B4-BE49-F238E27FC236}">
                <a16:creationId xmlns:a16="http://schemas.microsoft.com/office/drawing/2014/main" id="{48B9D1F7-1269-44C5-97C5-38215D63A5C0}"/>
              </a:ext>
            </a:extLst>
          </p:cNvPr>
          <p:cNvSpPr/>
          <p:nvPr/>
        </p:nvSpPr>
        <p:spPr>
          <a:xfrm>
            <a:off x="1041400" y="3492500"/>
            <a:ext cx="127000" cy="1270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9BCC759-B0D1-4F20-848C-327721635713}"/>
              </a:ext>
            </a:extLst>
          </p:cNvPr>
          <p:cNvSpPr txBox="1"/>
          <p:nvPr/>
        </p:nvSpPr>
        <p:spPr>
          <a:xfrm>
            <a:off x="1295400" y="33909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600" b="1">
                <a:solidFill>
                  <a:srgbClr val="E8EEF7"/>
                </a:solidFill>
                <a:latin typeface="Segoe UI" panose="020B0502040204020203" pitchFamily="34" charset="0"/>
              </a:rPr>
              <a:t>Чат 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461CA4A-AAF6-4DA6-BF56-5384FA070395}"/>
              </a:ext>
            </a:extLst>
          </p:cNvPr>
          <p:cNvSpPr txBox="1"/>
          <p:nvPr/>
        </p:nvSpPr>
        <p:spPr>
          <a:xfrm>
            <a:off x="1295400" y="37465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OpenCode · 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сессия 2</a:t>
            </a:r>
          </a:p>
        </p:txBody>
      </p:sp>
      <p:cxnSp>
        <p:nvCxnSpPr>
          <p:cNvPr id="90" name="Прямая соединительная линия 89">
            <a:extLst>
              <a:ext uri="{FF2B5EF4-FFF2-40B4-BE49-F238E27FC236}">
                <a16:creationId xmlns:a16="http://schemas.microsoft.com/office/drawing/2014/main" id="{793330DE-46D3-4C27-A183-A823BE3492DE}"/>
              </a:ext>
            </a:extLst>
          </p:cNvPr>
          <p:cNvCxnSpPr/>
          <p:nvPr/>
        </p:nvCxnSpPr>
        <p:spPr>
          <a:xfrm>
            <a:off x="3606800" y="3733800"/>
            <a:ext cx="457200" cy="0"/>
          </a:xfrm>
          <a:prstGeom prst="line">
            <a:avLst/>
          </a:prstGeom>
          <a:ln w="19050">
            <a:solidFill>
              <a:srgbClr val="1E4E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Прямоугольник: скругленные углы 90">
            <a:extLst>
              <a:ext uri="{FF2B5EF4-FFF2-40B4-BE49-F238E27FC236}">
                <a16:creationId xmlns:a16="http://schemas.microsoft.com/office/drawing/2014/main" id="{9136AA67-4233-4A90-BE37-D27F71D2EF0D}"/>
              </a:ext>
            </a:extLst>
          </p:cNvPr>
          <p:cNvSpPr/>
          <p:nvPr/>
        </p:nvSpPr>
        <p:spPr>
          <a:xfrm>
            <a:off x="812800" y="4381500"/>
            <a:ext cx="2794000" cy="9906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414884DC-C263-44E8-9D7F-0BAAFBC5DA55}"/>
              </a:ext>
            </a:extLst>
          </p:cNvPr>
          <p:cNvSpPr/>
          <p:nvPr/>
        </p:nvSpPr>
        <p:spPr>
          <a:xfrm>
            <a:off x="1041400" y="4635500"/>
            <a:ext cx="127000" cy="127000"/>
          </a:xfrm>
          <a:prstGeom prst="ellipse">
            <a:avLst/>
          </a:prstGeom>
          <a:solidFill>
            <a:srgbClr val="F5A5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67E0D0C-0EFF-43F2-92D9-2D7B47582D63}"/>
              </a:ext>
            </a:extLst>
          </p:cNvPr>
          <p:cNvSpPr txBox="1"/>
          <p:nvPr/>
        </p:nvSpPr>
        <p:spPr>
          <a:xfrm>
            <a:off x="1295400" y="45339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600" b="1">
                <a:solidFill>
                  <a:srgbClr val="E8EEF7"/>
                </a:solidFill>
                <a:latin typeface="Segoe UI" panose="020B0502040204020203" pitchFamily="34" charset="0"/>
              </a:rPr>
              <a:t>Чат 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E373D47-2322-4EEF-8A6A-4B9CB7173050}"/>
              </a:ext>
            </a:extLst>
          </p:cNvPr>
          <p:cNvSpPr txBox="1"/>
          <p:nvPr/>
        </p:nvSpPr>
        <p:spPr>
          <a:xfrm>
            <a:off x="1295400" y="48895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OpenCode · 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сессия 3</a:t>
            </a:r>
          </a:p>
        </p:txBody>
      </p:sp>
      <p:cxnSp>
        <p:nvCxnSpPr>
          <p:cNvPr id="95" name="Прямая соединительная линия 94">
            <a:extLst>
              <a:ext uri="{FF2B5EF4-FFF2-40B4-BE49-F238E27FC236}">
                <a16:creationId xmlns:a16="http://schemas.microsoft.com/office/drawing/2014/main" id="{91436F5D-E3F4-42C7-948F-40F3179A1077}"/>
              </a:ext>
            </a:extLst>
          </p:cNvPr>
          <p:cNvCxnSpPr/>
          <p:nvPr/>
        </p:nvCxnSpPr>
        <p:spPr>
          <a:xfrm>
            <a:off x="3606800" y="4876800"/>
            <a:ext cx="457200" cy="0"/>
          </a:xfrm>
          <a:prstGeom prst="line">
            <a:avLst/>
          </a:prstGeom>
          <a:ln w="19050">
            <a:solidFill>
              <a:srgbClr val="1E4E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единительная линия 95">
            <a:extLst>
              <a:ext uri="{FF2B5EF4-FFF2-40B4-BE49-F238E27FC236}">
                <a16:creationId xmlns:a16="http://schemas.microsoft.com/office/drawing/2014/main" id="{355EC34B-63CC-4AE5-A716-75556C38D264}"/>
              </a:ext>
            </a:extLst>
          </p:cNvPr>
          <p:cNvCxnSpPr/>
          <p:nvPr/>
        </p:nvCxnSpPr>
        <p:spPr>
          <a:xfrm>
            <a:off x="4064000" y="2590800"/>
            <a:ext cx="0" cy="2286000"/>
          </a:xfrm>
          <a:prstGeom prst="line">
            <a:avLst/>
          </a:prstGeom>
          <a:ln w="19050">
            <a:solidFill>
              <a:srgbClr val="1E4E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Стрелка: вправо 96">
            <a:extLst>
              <a:ext uri="{FF2B5EF4-FFF2-40B4-BE49-F238E27FC236}">
                <a16:creationId xmlns:a16="http://schemas.microsoft.com/office/drawing/2014/main" id="{168DCEE9-79C6-4B02-925D-49756DB4112E}"/>
              </a:ext>
            </a:extLst>
          </p:cNvPr>
          <p:cNvSpPr/>
          <p:nvPr/>
        </p:nvSpPr>
        <p:spPr>
          <a:xfrm>
            <a:off x="4064000" y="3632200"/>
            <a:ext cx="330200" cy="228600"/>
          </a:xfrm>
          <a:prstGeom prst="rightArrow">
            <a:avLst/>
          </a:prstGeom>
          <a:solidFill>
            <a:srgbClr val="1E4E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Стрелка: вправо 97">
            <a:extLst>
              <a:ext uri="{FF2B5EF4-FFF2-40B4-BE49-F238E27FC236}">
                <a16:creationId xmlns:a16="http://schemas.microsoft.com/office/drawing/2014/main" id="{45ECEA8A-95F0-4393-A851-7CB3AEF53470}"/>
              </a:ext>
            </a:extLst>
          </p:cNvPr>
          <p:cNvSpPr/>
          <p:nvPr/>
        </p:nvSpPr>
        <p:spPr>
          <a:xfrm>
            <a:off x="7670800" y="3632200"/>
            <a:ext cx="330200" cy="228600"/>
          </a:xfrm>
          <a:prstGeom prst="rightArrow">
            <a:avLst/>
          </a:prstGeom>
          <a:solidFill>
            <a:srgbClr val="1E4E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9" name="Прямоугольник: скругленные углы 98">
            <a:extLst>
              <a:ext uri="{FF2B5EF4-FFF2-40B4-BE49-F238E27FC236}">
                <a16:creationId xmlns:a16="http://schemas.microsoft.com/office/drawing/2014/main" id="{8B51DF74-7DF7-434E-BE56-BD35E2242CD4}"/>
              </a:ext>
            </a:extLst>
          </p:cNvPr>
          <p:cNvSpPr/>
          <p:nvPr/>
        </p:nvSpPr>
        <p:spPr>
          <a:xfrm>
            <a:off x="4445000" y="2857500"/>
            <a:ext cx="3175000" cy="19050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A4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9B9D44DA-EC76-482A-A687-928D074D582D}"/>
              </a:ext>
            </a:extLst>
          </p:cNvPr>
          <p:cNvSpPr/>
          <p:nvPr/>
        </p:nvSpPr>
        <p:spPr>
          <a:xfrm>
            <a:off x="4648200" y="2870200"/>
            <a:ext cx="27686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59C0765-F639-4020-9495-59F60275DF0F}"/>
              </a:ext>
            </a:extLst>
          </p:cNvPr>
          <p:cNvSpPr txBox="1"/>
          <p:nvPr/>
        </p:nvSpPr>
        <p:spPr>
          <a:xfrm>
            <a:off x="4673600" y="31115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2000" b="1">
                <a:solidFill>
                  <a:srgbClr val="E8EEF7"/>
                </a:solidFill>
                <a:latin typeface="Segoe UI" panose="020B0502040204020203" pitchFamily="34" charset="0"/>
              </a:rPr>
              <a:t>Мьютекс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C059E76-DE9F-4E25-B3BD-BE04BC83148D}"/>
              </a:ext>
            </a:extLst>
          </p:cNvPr>
          <p:cNvSpPr txBox="1"/>
          <p:nvPr/>
        </p:nvSpPr>
        <p:spPr>
          <a:xfrm>
            <a:off x="4673600" y="3517900"/>
            <a:ext cx="271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22D3EE"/>
                </a:solidFill>
                <a:latin typeface="Consolas" panose="020B0609020204030204" pitchFamily="49" charset="0"/>
              </a:rPr>
              <a:t>Local\OfficeMCP_Bridge_Serial</a:t>
            </a:r>
            <a:endParaRPr lang="ru-RU" sz="900">
              <a:solidFill>
                <a:srgbClr val="22D3EE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5A91956-614E-45AF-A92C-3749FDF62434}"/>
              </a:ext>
            </a:extLst>
          </p:cNvPr>
          <p:cNvSpPr txBox="1"/>
          <p:nvPr/>
        </p:nvSpPr>
        <p:spPr>
          <a:xfrm>
            <a:off x="4673600" y="4013200"/>
            <a:ext cx="271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00">
                <a:solidFill>
                  <a:srgbClr val="9FB0C7"/>
                </a:solidFill>
                <a:latin typeface="Segoe UI" panose="020B0502040204020203" pitchFamily="34" charset="0"/>
              </a:rPr>
              <a:t>сериализует вызовы</a:t>
            </a:r>
          </a:p>
          <a:p>
            <a:r>
              <a:rPr lang="ru-RU" sz="1100">
                <a:solidFill>
                  <a:srgbClr val="9FB0C7"/>
                </a:solidFill>
                <a:latin typeface="Segoe UI" panose="020B0502040204020203" pitchFamily="34" charset="0"/>
              </a:rPr>
              <a:t>между чатами</a:t>
            </a:r>
          </a:p>
        </p:txBody>
      </p:sp>
      <p:sp>
        <p:nvSpPr>
          <p:cNvPr id="104" name="Прямоугольник: скругленные углы 103">
            <a:extLst>
              <a:ext uri="{FF2B5EF4-FFF2-40B4-BE49-F238E27FC236}">
                <a16:creationId xmlns:a16="http://schemas.microsoft.com/office/drawing/2014/main" id="{C705B3AD-719A-44E5-8819-7EC10423E287}"/>
              </a:ext>
            </a:extLst>
          </p:cNvPr>
          <p:cNvSpPr/>
          <p:nvPr/>
        </p:nvSpPr>
        <p:spPr>
          <a:xfrm>
            <a:off x="8255000" y="2667000"/>
            <a:ext cx="3124200" cy="22860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29B75A93-2AA0-49D4-991B-B2D6B384F125}"/>
              </a:ext>
            </a:extLst>
          </p:cNvPr>
          <p:cNvSpPr/>
          <p:nvPr/>
        </p:nvSpPr>
        <p:spPr>
          <a:xfrm>
            <a:off x="8458200" y="2679700"/>
            <a:ext cx="2717800" cy="38100"/>
          </a:xfrm>
          <a:prstGeom prst="rect">
            <a:avLst/>
          </a:prstGeom>
          <a:solidFill>
            <a:srgbClr val="FB71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59D60E6-F080-4662-ADF0-8AB066C7F414}"/>
              </a:ext>
            </a:extLst>
          </p:cNvPr>
          <p:cNvSpPr txBox="1"/>
          <p:nvPr/>
        </p:nvSpPr>
        <p:spPr>
          <a:xfrm>
            <a:off x="8483600" y="2895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E8EEF7"/>
                </a:solidFill>
                <a:latin typeface="Segoe UI" panose="020B0502040204020203" pitchFamily="34" charset="0"/>
              </a:rPr>
              <a:t>Office</a:t>
            </a:r>
            <a:endParaRPr lang="ru-RU" sz="2000" b="1">
              <a:solidFill>
                <a:srgbClr val="E8EEF7"/>
              </a:solidFill>
              <a:latin typeface="Segoe UI" panose="020B0502040204020203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B626447-957D-46B3-9F86-DF3131A2F3F5}"/>
              </a:ext>
            </a:extLst>
          </p:cNvPr>
          <p:cNvSpPr txBox="1"/>
          <p:nvPr/>
        </p:nvSpPr>
        <p:spPr>
          <a:xfrm>
            <a:off x="8483600" y="3276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00">
                <a:solidFill>
                  <a:srgbClr val="9FB0C7"/>
                </a:solidFill>
                <a:latin typeface="Segoe UI" panose="020B0502040204020203" pitchFamily="34" charset="0"/>
              </a:rPr>
              <a:t>один экземпляр</a:t>
            </a:r>
          </a:p>
        </p:txBody>
      </p:sp>
      <p:sp>
        <p:nvSpPr>
          <p:cNvPr id="108" name="Прямоугольник: скругленные углы 107">
            <a:extLst>
              <a:ext uri="{FF2B5EF4-FFF2-40B4-BE49-F238E27FC236}">
                <a16:creationId xmlns:a16="http://schemas.microsoft.com/office/drawing/2014/main" id="{0731E4F2-33D3-45B0-B622-B8A0805D0970}"/>
              </a:ext>
            </a:extLst>
          </p:cNvPr>
          <p:cNvSpPr/>
          <p:nvPr/>
        </p:nvSpPr>
        <p:spPr>
          <a:xfrm>
            <a:off x="8483600" y="3530600"/>
            <a:ext cx="2667000" cy="304800"/>
          </a:xfrm>
          <a:prstGeom prst="roundRect">
            <a:avLst/>
          </a:prstGeom>
          <a:solidFill>
            <a:srgbClr val="132A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000" b="1">
                <a:solidFill>
                  <a:srgbClr val="4C9AFF"/>
                </a:solidFill>
                <a:latin typeface="Segoe UI" panose="020B0502040204020203" pitchFamily="34" charset="0"/>
              </a:rPr>
              <a:t>Word</a:t>
            </a:r>
            <a:endParaRPr lang="ru-RU" sz="1000" b="1">
              <a:solidFill>
                <a:srgbClr val="4C9AFF"/>
              </a:solidFill>
              <a:latin typeface="Segoe UI" panose="020B0502040204020203" pitchFamily="34" charset="0"/>
            </a:endParaRPr>
          </a:p>
        </p:txBody>
      </p:sp>
      <p:sp>
        <p:nvSpPr>
          <p:cNvPr id="109" name="Прямоугольник: скругленные углы 108">
            <a:extLst>
              <a:ext uri="{FF2B5EF4-FFF2-40B4-BE49-F238E27FC236}">
                <a16:creationId xmlns:a16="http://schemas.microsoft.com/office/drawing/2014/main" id="{4D37DB13-24A7-44CA-80AA-1A0DECBCAB5A}"/>
              </a:ext>
            </a:extLst>
          </p:cNvPr>
          <p:cNvSpPr/>
          <p:nvPr/>
        </p:nvSpPr>
        <p:spPr>
          <a:xfrm>
            <a:off x="8483600" y="3937000"/>
            <a:ext cx="2667000" cy="304800"/>
          </a:xfrm>
          <a:prstGeom prst="roundRect">
            <a:avLst/>
          </a:prstGeom>
          <a:solidFill>
            <a:srgbClr val="132A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000" b="1">
                <a:solidFill>
                  <a:srgbClr val="34D399"/>
                </a:solidFill>
                <a:latin typeface="Segoe UI" panose="020B0502040204020203" pitchFamily="34" charset="0"/>
              </a:rPr>
              <a:t>Excel</a:t>
            </a:r>
            <a:endParaRPr lang="ru-RU" sz="1000" b="1">
              <a:solidFill>
                <a:srgbClr val="34D399"/>
              </a:solidFill>
              <a:latin typeface="Segoe UI" panose="020B0502040204020203" pitchFamily="34" charset="0"/>
            </a:endParaRPr>
          </a:p>
        </p:txBody>
      </p:sp>
      <p:sp>
        <p:nvSpPr>
          <p:cNvPr id="110" name="Прямоугольник: скругленные углы 109">
            <a:extLst>
              <a:ext uri="{FF2B5EF4-FFF2-40B4-BE49-F238E27FC236}">
                <a16:creationId xmlns:a16="http://schemas.microsoft.com/office/drawing/2014/main" id="{9896FE09-5583-46DD-8FDC-91413B64F1A5}"/>
              </a:ext>
            </a:extLst>
          </p:cNvPr>
          <p:cNvSpPr/>
          <p:nvPr/>
        </p:nvSpPr>
        <p:spPr>
          <a:xfrm>
            <a:off x="8483600" y="4343400"/>
            <a:ext cx="2667000" cy="304800"/>
          </a:xfrm>
          <a:prstGeom prst="roundRect">
            <a:avLst/>
          </a:prstGeom>
          <a:solidFill>
            <a:srgbClr val="132A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000" b="1">
                <a:solidFill>
                  <a:srgbClr val="F97316"/>
                </a:solidFill>
                <a:latin typeface="Segoe UI" panose="020B0502040204020203" pitchFamily="34" charset="0"/>
              </a:rPr>
              <a:t>PowerPoint</a:t>
            </a:r>
            <a:endParaRPr lang="ru-RU" sz="1000" b="1">
              <a:solidFill>
                <a:srgbClr val="F97316"/>
              </a:solidFill>
              <a:latin typeface="Segoe UI" panose="020B0502040204020203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7F6AF8D-2971-4536-8067-77877CE6FC6C}"/>
              </a:ext>
            </a:extLst>
          </p:cNvPr>
          <p:cNvSpPr txBox="1"/>
          <p:nvPr/>
        </p:nvSpPr>
        <p:spPr>
          <a:xfrm>
            <a:off x="812800" y="5740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300">
                <a:solidFill>
                  <a:srgbClr val="6F8199"/>
                </a:solidFill>
                <a:latin typeface="Segoe UI" panose="020B0502040204020203" pitchFamily="34" charset="0"/>
              </a:rPr>
              <a:t>Второй чат ждёт до 60 секунд и получает ошибку, а не повреждённый документ.</a:t>
            </a:r>
          </a:p>
        </p:txBody>
      </p:sp>
    </p:spTree>
    <p:extLst>
      <p:ext uri="{BB962C8B-B14F-4D97-AF65-F5344CB8AC3E}">
        <p14:creationId xmlns:p14="http://schemas.microsoft.com/office/powerpoint/2010/main" val="387455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9DBD2F99-0625-417E-BCCB-28850014CA48}"/>
              </a:ext>
            </a:extLst>
          </p:cNvPr>
          <p:cNvSpPr/>
          <p:nvPr/>
        </p:nvSpPr>
        <p:spPr>
          <a:xfrm>
            <a:off x="812800" y="330200"/>
            <a:ext cx="76200" cy="76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E3B7C1-DA39-423C-ADBE-8885BA4F0FD3}"/>
              </a:ext>
            </a:extLst>
          </p:cNvPr>
          <p:cNvSpPr txBox="1"/>
          <p:nvPr/>
        </p:nvSpPr>
        <p:spPr>
          <a:xfrm>
            <a:off x="990600" y="2159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00" b="1">
                <a:solidFill>
                  <a:srgbClr val="22D3EE"/>
                </a:solidFill>
                <a:latin typeface="Segoe UI" panose="020B0502040204020203" pitchFamily="34" charset="0"/>
              </a:rPr>
              <a:t>05 · ИНСТРУМЕНТЫ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EDA08D-D1E1-4570-8943-72327FE82333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3000" b="1">
                <a:solidFill>
                  <a:srgbClr val="E8EEF7"/>
                </a:solidFill>
                <a:latin typeface="Segoe UI" panose="020B0502040204020203" pitchFamily="34" charset="0"/>
              </a:rPr>
              <a:t>53 инструмента</a:t>
            </a:r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3BCA9380-C504-45F3-B6D4-63284C28DE8C}"/>
              </a:ext>
            </a:extLst>
          </p:cNvPr>
          <p:cNvSpPr/>
          <p:nvPr/>
        </p:nvSpPr>
        <p:spPr>
          <a:xfrm>
            <a:off x="812800" y="1422400"/>
            <a:ext cx="6604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647666E1-D7B4-443E-8AE7-E982C281D3F4}"/>
              </a:ext>
            </a:extLst>
          </p:cNvPr>
          <p:cNvCxnSpPr/>
          <p:nvPr/>
        </p:nvCxnSpPr>
        <p:spPr>
          <a:xfrm>
            <a:off x="812800" y="6400800"/>
            <a:ext cx="10566400" cy="0"/>
          </a:xfrm>
          <a:prstGeom prst="line">
            <a:avLst/>
          </a:prstGeom>
          <a:ln w="9525">
            <a:solidFill>
              <a:srgbClr val="263A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D6F3D12-485B-4BB8-A599-7AB8B865E2DE}"/>
              </a:ext>
            </a:extLst>
          </p:cNvPr>
          <p:cNvSpPr txBox="1"/>
          <p:nvPr/>
        </p:nvSpPr>
        <p:spPr>
          <a:xfrm>
            <a:off x="812800" y="64643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MCP-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мост </a:t>
            </a:r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Office</a:t>
            </a:r>
            <a:endParaRPr lang="ru-RU" sz="900">
              <a:solidFill>
                <a:srgbClr val="6F8199"/>
              </a:solidFill>
              <a:latin typeface="Segoe UI" panose="020B05020402040202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633F8C-D558-4AAF-8807-7D4EE3EF2581}"/>
              </a:ext>
            </a:extLst>
          </p:cNvPr>
          <p:cNvSpPr txBox="1"/>
          <p:nvPr/>
        </p:nvSpPr>
        <p:spPr>
          <a:xfrm>
            <a:off x="10109200" y="64643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05 / 09</a:t>
            </a:r>
          </a:p>
        </p:txBody>
      </p:sp>
      <p:sp>
        <p:nvSpPr>
          <p:cNvPr id="73" name="Прямоугольник: скругленные углы 72">
            <a:extLst>
              <a:ext uri="{FF2B5EF4-FFF2-40B4-BE49-F238E27FC236}">
                <a16:creationId xmlns:a16="http://schemas.microsoft.com/office/drawing/2014/main" id="{CA6C90EB-248C-4CF7-BF13-E784200C6BAA}"/>
              </a:ext>
            </a:extLst>
          </p:cNvPr>
          <p:cNvSpPr/>
          <p:nvPr/>
        </p:nvSpPr>
        <p:spPr>
          <a:xfrm>
            <a:off x="812800" y="2222500"/>
            <a:ext cx="2489200" cy="25400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E2B28B65-742E-40EE-B459-90FB50B4873A}"/>
              </a:ext>
            </a:extLst>
          </p:cNvPr>
          <p:cNvSpPr/>
          <p:nvPr/>
        </p:nvSpPr>
        <p:spPr>
          <a:xfrm>
            <a:off x="1016000" y="2235200"/>
            <a:ext cx="2082800" cy="38100"/>
          </a:xfrm>
          <a:prstGeom prst="rect">
            <a:avLst/>
          </a:prstGeom>
          <a:solidFill>
            <a:srgbClr val="4C9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F33271-4988-47AC-B92B-871E9E667508}"/>
              </a:ext>
            </a:extLst>
          </p:cNvPr>
          <p:cNvSpPr txBox="1"/>
          <p:nvPr/>
        </p:nvSpPr>
        <p:spPr>
          <a:xfrm>
            <a:off x="1041400" y="2387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C9AFF"/>
                </a:solidFill>
                <a:latin typeface="Segoe UI" panose="020B0502040204020203" pitchFamily="34" charset="0"/>
              </a:rPr>
              <a:t>WORD</a:t>
            </a:r>
            <a:endParaRPr lang="ru-RU" sz="1000" b="1">
              <a:solidFill>
                <a:srgbClr val="4C9AFF"/>
              </a:solidFill>
              <a:latin typeface="Segoe UI" panose="020B0502040204020203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394F47-84D5-4F2D-8EA5-78D8BBD4AB97}"/>
              </a:ext>
            </a:extLst>
          </p:cNvPr>
          <p:cNvSpPr txBox="1"/>
          <p:nvPr/>
        </p:nvSpPr>
        <p:spPr>
          <a:xfrm>
            <a:off x="1041400" y="2667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5600" b="1">
                <a:solidFill>
                  <a:srgbClr val="4C9AFF"/>
                </a:solidFill>
                <a:latin typeface="Segoe UI" panose="020B0502040204020203" pitchFamily="34" charset="0"/>
              </a:rPr>
              <a:t>19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10F6D6A-5020-4973-9356-6967B942424F}"/>
              </a:ext>
            </a:extLst>
          </p:cNvPr>
          <p:cNvSpPr txBox="1"/>
          <p:nvPr/>
        </p:nvSpPr>
        <p:spPr>
          <a:xfrm>
            <a:off x="1041400" y="3657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инструментов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ACB18D-4EB3-4DF0-8A56-291004B39031}"/>
              </a:ext>
            </a:extLst>
          </p:cNvPr>
          <p:cNvSpPr txBox="1"/>
          <p:nvPr/>
        </p:nvSpPr>
        <p:spPr>
          <a:xfrm>
            <a:off x="1041400" y="3937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>
                <a:solidFill>
                  <a:srgbClr val="9FB0C7"/>
                </a:solidFill>
                <a:latin typeface="Segoe UI" panose="020B0502040204020203" pitchFamily="34" charset="0"/>
              </a:rPr>
              <a:t>документы</a:t>
            </a:r>
          </a:p>
          <a:p>
            <a:r>
              <a:rPr lang="ru-RU" sz="1000">
                <a:solidFill>
                  <a:srgbClr val="9FB0C7"/>
                </a:solidFill>
                <a:latin typeface="Segoe UI" panose="020B0502040204020203" pitchFamily="34" charset="0"/>
              </a:rPr>
              <a:t>таблицы</a:t>
            </a:r>
          </a:p>
          <a:p>
            <a:r>
              <a:rPr lang="en-US" sz="1000">
                <a:solidFill>
                  <a:srgbClr val="9FB0C7"/>
                </a:solidFill>
                <a:latin typeface="Segoe UI" panose="020B0502040204020203" pitchFamily="34" charset="0"/>
              </a:rPr>
              <a:t>PDF</a:t>
            </a:r>
            <a:endParaRPr lang="ru-RU" sz="1000">
              <a:solidFill>
                <a:srgbClr val="9FB0C7"/>
              </a:solidFill>
              <a:latin typeface="Segoe UI" panose="020B0502040204020203" pitchFamily="34" charset="0"/>
            </a:endParaRPr>
          </a:p>
        </p:txBody>
      </p:sp>
      <p:sp>
        <p:nvSpPr>
          <p:cNvPr id="79" name="Прямоугольник: скругленные углы 78">
            <a:extLst>
              <a:ext uri="{FF2B5EF4-FFF2-40B4-BE49-F238E27FC236}">
                <a16:creationId xmlns:a16="http://schemas.microsoft.com/office/drawing/2014/main" id="{A57FC55A-2F15-463C-AFA4-3C1BDD06CE33}"/>
              </a:ext>
            </a:extLst>
          </p:cNvPr>
          <p:cNvSpPr/>
          <p:nvPr/>
        </p:nvSpPr>
        <p:spPr>
          <a:xfrm>
            <a:off x="3505200" y="2222500"/>
            <a:ext cx="2489200" cy="25400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BE9489FB-F9DB-4797-BC35-D4C304ABF36C}"/>
              </a:ext>
            </a:extLst>
          </p:cNvPr>
          <p:cNvSpPr/>
          <p:nvPr/>
        </p:nvSpPr>
        <p:spPr>
          <a:xfrm>
            <a:off x="3708400" y="2235200"/>
            <a:ext cx="2082800" cy="381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52DD2E1-17DC-4792-87BC-CE8D4DF88F0C}"/>
              </a:ext>
            </a:extLst>
          </p:cNvPr>
          <p:cNvSpPr txBox="1"/>
          <p:nvPr/>
        </p:nvSpPr>
        <p:spPr>
          <a:xfrm>
            <a:off x="3733800" y="2387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34D399"/>
                </a:solidFill>
                <a:latin typeface="Segoe UI" panose="020B0502040204020203" pitchFamily="34" charset="0"/>
              </a:rPr>
              <a:t>EXCEL</a:t>
            </a:r>
            <a:endParaRPr lang="ru-RU" sz="1000" b="1">
              <a:solidFill>
                <a:srgbClr val="34D399"/>
              </a:solidFill>
              <a:latin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A61CE6-F4B5-43BD-AE73-57810F0A21C5}"/>
              </a:ext>
            </a:extLst>
          </p:cNvPr>
          <p:cNvSpPr txBox="1"/>
          <p:nvPr/>
        </p:nvSpPr>
        <p:spPr>
          <a:xfrm>
            <a:off x="3733800" y="2667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5600" b="1">
                <a:solidFill>
                  <a:srgbClr val="34D399"/>
                </a:solidFill>
                <a:latin typeface="Segoe UI" panose="020B0502040204020203" pitchFamily="34" charset="0"/>
              </a:rPr>
              <a:t>17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D75929E-9AB0-4DCF-841C-3FA1965A41B4}"/>
              </a:ext>
            </a:extLst>
          </p:cNvPr>
          <p:cNvSpPr txBox="1"/>
          <p:nvPr/>
        </p:nvSpPr>
        <p:spPr>
          <a:xfrm>
            <a:off x="3733800" y="3657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инструментов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E91BF28-6B7E-4566-ABF8-09FC663CCBAC}"/>
              </a:ext>
            </a:extLst>
          </p:cNvPr>
          <p:cNvSpPr txBox="1"/>
          <p:nvPr/>
        </p:nvSpPr>
        <p:spPr>
          <a:xfrm>
            <a:off x="3733800" y="3937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>
                <a:solidFill>
                  <a:srgbClr val="9FB0C7"/>
                </a:solidFill>
                <a:latin typeface="Segoe UI" panose="020B0502040204020203" pitchFamily="34" charset="0"/>
              </a:rPr>
              <a:t>книги</a:t>
            </a:r>
          </a:p>
          <a:p>
            <a:r>
              <a:rPr lang="ru-RU" sz="1000">
                <a:solidFill>
                  <a:srgbClr val="9FB0C7"/>
                </a:solidFill>
                <a:latin typeface="Segoe UI" panose="020B0502040204020203" pitchFamily="34" charset="0"/>
              </a:rPr>
              <a:t>диаграммы</a:t>
            </a:r>
          </a:p>
          <a:p>
            <a:r>
              <a:rPr lang="ru-RU" sz="1000">
                <a:solidFill>
                  <a:srgbClr val="9FB0C7"/>
                </a:solidFill>
                <a:latin typeface="Segoe UI" panose="020B0502040204020203" pitchFamily="34" charset="0"/>
              </a:rPr>
              <a:t>формулы</a:t>
            </a:r>
          </a:p>
        </p:txBody>
      </p:sp>
      <p:sp>
        <p:nvSpPr>
          <p:cNvPr id="85" name="Прямоугольник: скругленные углы 84">
            <a:extLst>
              <a:ext uri="{FF2B5EF4-FFF2-40B4-BE49-F238E27FC236}">
                <a16:creationId xmlns:a16="http://schemas.microsoft.com/office/drawing/2014/main" id="{3323C854-7A59-418B-AC41-B0BEE7A2B73D}"/>
              </a:ext>
            </a:extLst>
          </p:cNvPr>
          <p:cNvSpPr/>
          <p:nvPr/>
        </p:nvSpPr>
        <p:spPr>
          <a:xfrm>
            <a:off x="6197600" y="2222500"/>
            <a:ext cx="2489200" cy="25400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5371E37F-2F41-49B3-B8F0-DFAF33BEABD4}"/>
              </a:ext>
            </a:extLst>
          </p:cNvPr>
          <p:cNvSpPr/>
          <p:nvPr/>
        </p:nvSpPr>
        <p:spPr>
          <a:xfrm>
            <a:off x="6400800" y="2235200"/>
            <a:ext cx="2082800" cy="381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900C348-584B-4381-9ABB-C4B274D53CBE}"/>
              </a:ext>
            </a:extLst>
          </p:cNvPr>
          <p:cNvSpPr txBox="1"/>
          <p:nvPr/>
        </p:nvSpPr>
        <p:spPr>
          <a:xfrm>
            <a:off x="6426200" y="2387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F97316"/>
                </a:solidFill>
                <a:latin typeface="Segoe UI" panose="020B0502040204020203" pitchFamily="34" charset="0"/>
              </a:rPr>
              <a:t>POWERPOINT</a:t>
            </a:r>
            <a:endParaRPr lang="ru-RU" sz="1000" b="1">
              <a:solidFill>
                <a:srgbClr val="F97316"/>
              </a:solidFill>
              <a:latin typeface="Segoe UI" panose="020B050204020402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BB05CB9-1A64-423D-99DC-0C79E663D7B6}"/>
              </a:ext>
            </a:extLst>
          </p:cNvPr>
          <p:cNvSpPr txBox="1"/>
          <p:nvPr/>
        </p:nvSpPr>
        <p:spPr>
          <a:xfrm>
            <a:off x="6426200" y="2667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5600" b="1">
                <a:solidFill>
                  <a:srgbClr val="F97316"/>
                </a:solidFill>
                <a:latin typeface="Segoe UI" panose="020B0502040204020203" pitchFamily="34" charset="0"/>
              </a:rPr>
              <a:t>13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3A342D2-E5EC-485D-B038-64A9808EC7B4}"/>
              </a:ext>
            </a:extLst>
          </p:cNvPr>
          <p:cNvSpPr txBox="1"/>
          <p:nvPr/>
        </p:nvSpPr>
        <p:spPr>
          <a:xfrm>
            <a:off x="6426200" y="3657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инструментов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791EE3A-199F-4524-B0B8-67D48AC04692}"/>
              </a:ext>
            </a:extLst>
          </p:cNvPr>
          <p:cNvSpPr txBox="1"/>
          <p:nvPr/>
        </p:nvSpPr>
        <p:spPr>
          <a:xfrm>
            <a:off x="6426200" y="3937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>
                <a:solidFill>
                  <a:srgbClr val="9FB0C7"/>
                </a:solidFill>
                <a:latin typeface="Segoe UI" panose="020B0502040204020203" pitchFamily="34" charset="0"/>
              </a:rPr>
              <a:t>слайды</a:t>
            </a:r>
          </a:p>
          <a:p>
            <a:r>
              <a:rPr lang="ru-RU" sz="1000">
                <a:solidFill>
                  <a:srgbClr val="9FB0C7"/>
                </a:solidFill>
                <a:latin typeface="Segoe UI" panose="020B0502040204020203" pitchFamily="34" charset="0"/>
              </a:rPr>
              <a:t>текст</a:t>
            </a:r>
          </a:p>
          <a:p>
            <a:r>
              <a:rPr lang="en-US" sz="1000">
                <a:solidFill>
                  <a:srgbClr val="9FB0C7"/>
                </a:solidFill>
                <a:latin typeface="Segoe UI" panose="020B0502040204020203" pitchFamily="34" charset="0"/>
              </a:rPr>
              <a:t>PDF</a:t>
            </a:r>
            <a:endParaRPr lang="ru-RU" sz="1000">
              <a:solidFill>
                <a:srgbClr val="9FB0C7"/>
              </a:solidFill>
              <a:latin typeface="Segoe UI" panose="020B0502040204020203" pitchFamily="34" charset="0"/>
            </a:endParaRPr>
          </a:p>
        </p:txBody>
      </p:sp>
      <p:sp>
        <p:nvSpPr>
          <p:cNvPr id="91" name="Прямоугольник: скругленные углы 90">
            <a:extLst>
              <a:ext uri="{FF2B5EF4-FFF2-40B4-BE49-F238E27FC236}">
                <a16:creationId xmlns:a16="http://schemas.microsoft.com/office/drawing/2014/main" id="{B7793E27-2D8D-4E4D-999D-A19B55FC0662}"/>
              </a:ext>
            </a:extLst>
          </p:cNvPr>
          <p:cNvSpPr/>
          <p:nvPr/>
        </p:nvSpPr>
        <p:spPr>
          <a:xfrm>
            <a:off x="8890000" y="2222500"/>
            <a:ext cx="2489200" cy="25400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E376E98D-3715-4DE1-A0E5-802688C5AC40}"/>
              </a:ext>
            </a:extLst>
          </p:cNvPr>
          <p:cNvSpPr/>
          <p:nvPr/>
        </p:nvSpPr>
        <p:spPr>
          <a:xfrm>
            <a:off x="9093200" y="2235200"/>
            <a:ext cx="20828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ED5FE53-BC29-4827-9779-0B07DA1E3BA2}"/>
              </a:ext>
            </a:extLst>
          </p:cNvPr>
          <p:cNvSpPr txBox="1"/>
          <p:nvPr/>
        </p:nvSpPr>
        <p:spPr>
          <a:xfrm>
            <a:off x="9118600" y="2387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>
                <a:solidFill>
                  <a:srgbClr val="22D3EE"/>
                </a:solidFill>
                <a:latin typeface="Segoe UI" panose="020B0502040204020203" pitchFamily="34" charset="0"/>
              </a:rPr>
              <a:t>ОБЩИЕ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51E17C4-3DEB-47D9-900B-49DC2F160CA0}"/>
              </a:ext>
            </a:extLst>
          </p:cNvPr>
          <p:cNvSpPr txBox="1"/>
          <p:nvPr/>
        </p:nvSpPr>
        <p:spPr>
          <a:xfrm>
            <a:off x="9118600" y="2667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5600" b="1">
                <a:solidFill>
                  <a:srgbClr val="22D3EE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07DA99B-5FA2-4945-8204-13C93CE230D2}"/>
              </a:ext>
            </a:extLst>
          </p:cNvPr>
          <p:cNvSpPr txBox="1"/>
          <p:nvPr/>
        </p:nvSpPr>
        <p:spPr>
          <a:xfrm>
            <a:off x="9118600" y="3657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инструментов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257E295-1189-4969-A8CE-86FF5B6FAC73}"/>
              </a:ext>
            </a:extLst>
          </p:cNvPr>
          <p:cNvSpPr txBox="1"/>
          <p:nvPr/>
        </p:nvSpPr>
        <p:spPr>
          <a:xfrm>
            <a:off x="9118600" y="3937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>
                <a:solidFill>
                  <a:srgbClr val="9FB0C7"/>
                </a:solidFill>
                <a:latin typeface="Segoe UI" panose="020B0502040204020203" pitchFamily="34" charset="0"/>
              </a:rPr>
              <a:t>статус</a:t>
            </a:r>
          </a:p>
          <a:p>
            <a:r>
              <a:rPr lang="ru-RU" sz="1000">
                <a:solidFill>
                  <a:srgbClr val="9FB0C7"/>
                </a:solidFill>
                <a:latin typeface="Segoe UI" panose="020B0502040204020203" pitchFamily="34" charset="0"/>
              </a:rPr>
              <a:t>показ</a:t>
            </a:r>
          </a:p>
          <a:p>
            <a:r>
              <a:rPr lang="ru-RU" sz="1000">
                <a:solidFill>
                  <a:srgbClr val="9FB0C7"/>
                </a:solidFill>
                <a:latin typeface="Segoe UI" panose="020B0502040204020203" pitchFamily="34" charset="0"/>
              </a:rPr>
              <a:t>выход</a:t>
            </a:r>
          </a:p>
        </p:txBody>
      </p:sp>
      <p:sp>
        <p:nvSpPr>
          <p:cNvPr id="97" name="Прямоугольник: скругленные углы 96">
            <a:extLst>
              <a:ext uri="{FF2B5EF4-FFF2-40B4-BE49-F238E27FC236}">
                <a16:creationId xmlns:a16="http://schemas.microsoft.com/office/drawing/2014/main" id="{32097CBC-F9E7-41F5-A127-90A2EF9EC627}"/>
              </a:ext>
            </a:extLst>
          </p:cNvPr>
          <p:cNvSpPr/>
          <p:nvPr/>
        </p:nvSpPr>
        <p:spPr>
          <a:xfrm>
            <a:off x="812800" y="5080000"/>
            <a:ext cx="10515600" cy="812800"/>
          </a:xfrm>
          <a:prstGeom prst="roundRect">
            <a:avLst/>
          </a:prstGeom>
          <a:solidFill>
            <a:srgbClr val="0D1A2B"/>
          </a:solidFill>
          <a:ln w="9525">
            <a:solidFill>
              <a:srgbClr val="1B2C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6DA0F55-4A3B-411C-A632-08EA85B06558}"/>
              </a:ext>
            </a:extLst>
          </p:cNvPr>
          <p:cNvSpPr txBox="1"/>
          <p:nvPr/>
        </p:nvSpPr>
        <p:spPr>
          <a:xfrm>
            <a:off x="1117600" y="5283200"/>
            <a:ext cx="990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>
                <a:solidFill>
                  <a:srgbClr val="9FB0C7"/>
                </a:solidFill>
                <a:latin typeface="Segoe UI" panose="020B0502040204020203" pitchFamily="34" charset="0"/>
              </a:rPr>
              <a:t>Единый контракт: JSON-ответ  ·  явное сохранение  ·  экспорт PDF</a:t>
            </a:r>
          </a:p>
        </p:txBody>
      </p:sp>
    </p:spTree>
    <p:extLst>
      <p:ext uri="{BB962C8B-B14F-4D97-AF65-F5344CB8AC3E}">
        <p14:creationId xmlns:p14="http://schemas.microsoft.com/office/powerpoint/2010/main" val="162263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0C14DB9-9E13-4C3B-BB55-BC8F2055D678}"/>
              </a:ext>
            </a:extLst>
          </p:cNvPr>
          <p:cNvSpPr/>
          <p:nvPr/>
        </p:nvSpPr>
        <p:spPr>
          <a:xfrm>
            <a:off x="812800" y="330200"/>
            <a:ext cx="76200" cy="76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C175EC-6D4D-4446-9AB0-028A722F4EFF}"/>
              </a:ext>
            </a:extLst>
          </p:cNvPr>
          <p:cNvSpPr txBox="1"/>
          <p:nvPr/>
        </p:nvSpPr>
        <p:spPr>
          <a:xfrm>
            <a:off x="990600" y="2159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00" b="1">
                <a:solidFill>
                  <a:srgbClr val="22D3EE"/>
                </a:solidFill>
                <a:latin typeface="Segoe UI" panose="020B0502040204020203" pitchFamily="34" charset="0"/>
              </a:rPr>
              <a:t>06 · ФАЙЛЫ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0943B1-7422-4D35-87A6-7777121751A0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3000" b="1">
                <a:solidFill>
                  <a:srgbClr val="E8EEF7"/>
                </a:solidFill>
                <a:latin typeface="Segoe UI" panose="020B0502040204020203" pitchFamily="34" charset="0"/>
              </a:rPr>
              <a:t>Пути и файлы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F68158A-7892-45C8-94B4-2351E7876874}"/>
              </a:ext>
            </a:extLst>
          </p:cNvPr>
          <p:cNvSpPr/>
          <p:nvPr/>
        </p:nvSpPr>
        <p:spPr>
          <a:xfrm>
            <a:off x="812800" y="1422400"/>
            <a:ext cx="6604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6BDFB29A-576F-49DD-9744-8C3A969D38D5}"/>
              </a:ext>
            </a:extLst>
          </p:cNvPr>
          <p:cNvCxnSpPr/>
          <p:nvPr/>
        </p:nvCxnSpPr>
        <p:spPr>
          <a:xfrm>
            <a:off x="812800" y="6400800"/>
            <a:ext cx="10566400" cy="0"/>
          </a:xfrm>
          <a:prstGeom prst="line">
            <a:avLst/>
          </a:prstGeom>
          <a:ln w="9525">
            <a:solidFill>
              <a:srgbClr val="263A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E129660-69D9-49CE-903A-FE1A6FEBD09B}"/>
              </a:ext>
            </a:extLst>
          </p:cNvPr>
          <p:cNvSpPr txBox="1"/>
          <p:nvPr/>
        </p:nvSpPr>
        <p:spPr>
          <a:xfrm>
            <a:off x="812800" y="64643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MCP-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мост </a:t>
            </a:r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Office</a:t>
            </a:r>
            <a:endParaRPr lang="ru-RU" sz="900">
              <a:solidFill>
                <a:srgbClr val="6F8199"/>
              </a:solidFill>
              <a:latin typeface="Segoe UI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294ED7-7253-4704-8DE4-143DB6DB4ADA}"/>
              </a:ext>
            </a:extLst>
          </p:cNvPr>
          <p:cNvSpPr txBox="1"/>
          <p:nvPr/>
        </p:nvSpPr>
        <p:spPr>
          <a:xfrm>
            <a:off x="10109200" y="64643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06 / 09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5BDBEBF0-C3F2-4094-9075-DDB9FEE09A5E}"/>
              </a:ext>
            </a:extLst>
          </p:cNvPr>
          <p:cNvSpPr/>
          <p:nvPr/>
        </p:nvSpPr>
        <p:spPr>
          <a:xfrm>
            <a:off x="812800" y="20701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3F48A6-60B4-4D23-890A-AC406197EC39}"/>
              </a:ext>
            </a:extLst>
          </p:cNvPr>
          <p:cNvSpPr txBox="1"/>
          <p:nvPr/>
        </p:nvSpPr>
        <p:spPr>
          <a:xfrm>
            <a:off x="1066800" y="19812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D6E2F2"/>
                </a:solidFill>
                <a:latin typeface="Segoe UI" panose="020B0502040204020203" pitchFamily="34" charset="0"/>
              </a:rPr>
              <a:t>Относительные пути разрешаются от %USERPROFILE%\Documents\Office MCP.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8801CE0D-E90D-4DDB-ABAD-81F394C9EA2E}"/>
              </a:ext>
            </a:extLst>
          </p:cNvPr>
          <p:cNvSpPr/>
          <p:nvPr/>
        </p:nvSpPr>
        <p:spPr>
          <a:xfrm>
            <a:off x="812800" y="30607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ED50C5-F8CA-4763-9582-9290F488DA8B}"/>
              </a:ext>
            </a:extLst>
          </p:cNvPr>
          <p:cNvSpPr txBox="1"/>
          <p:nvPr/>
        </p:nvSpPr>
        <p:spPr>
          <a:xfrm>
            <a:off x="1066800" y="29718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D6E2F2"/>
                </a:solidFill>
                <a:latin typeface="Segoe UI" panose="020B0502040204020203" pitchFamily="34" charset="0"/>
              </a:rPr>
              <a:t>Новый файл без пути сохраняется туда автоматически.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D613E94E-B2FD-44C8-9941-E02BB72C0398}"/>
              </a:ext>
            </a:extLst>
          </p:cNvPr>
          <p:cNvSpPr/>
          <p:nvPr/>
        </p:nvSpPr>
        <p:spPr>
          <a:xfrm>
            <a:off x="812800" y="40513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D0D997-5DF1-4A5B-BBC2-AE678C9E47D4}"/>
              </a:ext>
            </a:extLst>
          </p:cNvPr>
          <p:cNvSpPr txBox="1"/>
          <p:nvPr/>
        </p:nvSpPr>
        <p:spPr>
          <a:xfrm>
            <a:off x="1066800" y="39624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D6E2F2"/>
                </a:solidFill>
                <a:latin typeface="Segoe UI" panose="020B0502040204020203" pitchFamily="34" charset="0"/>
              </a:rPr>
              <a:t>OFFICE_MCP_BASE_DIR меняет базовый каталог.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33FDC3E-594D-4880-925D-3463A1FDE471}"/>
              </a:ext>
            </a:extLst>
          </p:cNvPr>
          <p:cNvSpPr/>
          <p:nvPr/>
        </p:nvSpPr>
        <p:spPr>
          <a:xfrm>
            <a:off x="812800" y="50419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6E4369-01D6-4EDF-B427-45B7B1996F55}"/>
              </a:ext>
            </a:extLst>
          </p:cNvPr>
          <p:cNvSpPr txBox="1"/>
          <p:nvPr/>
        </p:nvSpPr>
        <p:spPr>
          <a:xfrm>
            <a:off x="1066800" y="49530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D6E2F2"/>
                </a:solidFill>
                <a:latin typeface="Segoe UI" panose="020B0502040204020203" pitchFamily="34" charset="0"/>
              </a:rPr>
              <a:t>Экспорт в PDF сначала сохраняет исходный документ.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AF463F-0BC8-42B6-A8FE-FF7B3FEC77DC}"/>
              </a:ext>
            </a:extLst>
          </p:cNvPr>
          <p:cNvSpPr txBox="1"/>
          <p:nvPr/>
        </p:nvSpPr>
        <p:spPr>
          <a:xfrm>
            <a:off x="9499600" y="3810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15000" b="1">
                <a:solidFill>
                  <a:srgbClr val="12233A"/>
                </a:solidFill>
                <a:latin typeface="Segoe UI" panose="020B0502040204020203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6184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B1A3769-DA12-4052-B5DD-62F3984B2924}"/>
              </a:ext>
            </a:extLst>
          </p:cNvPr>
          <p:cNvSpPr/>
          <p:nvPr/>
        </p:nvSpPr>
        <p:spPr>
          <a:xfrm>
            <a:off x="812800" y="330200"/>
            <a:ext cx="76200" cy="76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C1D6DB-4007-42D2-9EF4-96A1335EB811}"/>
              </a:ext>
            </a:extLst>
          </p:cNvPr>
          <p:cNvSpPr txBox="1"/>
          <p:nvPr/>
        </p:nvSpPr>
        <p:spPr>
          <a:xfrm>
            <a:off x="990600" y="2159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00" b="1">
                <a:solidFill>
                  <a:srgbClr val="22D3EE"/>
                </a:solidFill>
                <a:latin typeface="Segoe UI" panose="020B0502040204020203" pitchFamily="34" charset="0"/>
              </a:rPr>
              <a:t>07 · ГРАНИЦЫ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43B42D-712C-4151-902B-6335F59B894C}"/>
              </a:ext>
            </a:extLst>
          </p:cNvPr>
          <p:cNvSpPr txBox="1"/>
          <p:nvPr/>
        </p:nvSpPr>
        <p:spPr>
          <a:xfrm>
            <a:off x="812800" y="558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3000" b="1">
                <a:solidFill>
                  <a:srgbClr val="E8EEF7"/>
                </a:solidFill>
                <a:latin typeface="Segoe UI" panose="020B0502040204020203" pitchFamily="34" charset="0"/>
              </a:rPr>
              <a:t>Ограничения и безопасность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213BCE8-A14F-4CAA-869A-28DDAF6C1514}"/>
              </a:ext>
            </a:extLst>
          </p:cNvPr>
          <p:cNvSpPr/>
          <p:nvPr/>
        </p:nvSpPr>
        <p:spPr>
          <a:xfrm>
            <a:off x="812800" y="1422400"/>
            <a:ext cx="6604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194AB0BA-C657-4113-A0C9-D07D17E3A1D3}"/>
              </a:ext>
            </a:extLst>
          </p:cNvPr>
          <p:cNvCxnSpPr/>
          <p:nvPr/>
        </p:nvCxnSpPr>
        <p:spPr>
          <a:xfrm>
            <a:off x="812800" y="6400800"/>
            <a:ext cx="10566400" cy="0"/>
          </a:xfrm>
          <a:prstGeom prst="line">
            <a:avLst/>
          </a:prstGeom>
          <a:ln w="9525">
            <a:solidFill>
              <a:srgbClr val="263A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BDF30E5-1A26-4188-8E0E-D73C78078B2F}"/>
              </a:ext>
            </a:extLst>
          </p:cNvPr>
          <p:cNvSpPr txBox="1"/>
          <p:nvPr/>
        </p:nvSpPr>
        <p:spPr>
          <a:xfrm>
            <a:off x="812800" y="64643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MCP-</a:t>
            </a:r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мост </a:t>
            </a:r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Office</a:t>
            </a:r>
            <a:endParaRPr lang="ru-RU" sz="900">
              <a:solidFill>
                <a:srgbClr val="6F8199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2BDDF4-1782-49E6-8FA4-6181A428D334}"/>
              </a:ext>
            </a:extLst>
          </p:cNvPr>
          <p:cNvSpPr txBox="1"/>
          <p:nvPr/>
        </p:nvSpPr>
        <p:spPr>
          <a:xfrm>
            <a:off x="10109200" y="64643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07 / 09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2D8E28A-72B8-470F-A13B-07619A2F3B76}"/>
              </a:ext>
            </a:extLst>
          </p:cNvPr>
          <p:cNvSpPr/>
          <p:nvPr/>
        </p:nvSpPr>
        <p:spPr>
          <a:xfrm>
            <a:off x="812800" y="20701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47CF6F-A564-448C-89C4-D7AA9D8E15E6}"/>
              </a:ext>
            </a:extLst>
          </p:cNvPr>
          <p:cNvSpPr txBox="1"/>
          <p:nvPr/>
        </p:nvSpPr>
        <p:spPr>
          <a:xfrm>
            <a:off x="1066800" y="19812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D6E2F2"/>
                </a:solidFill>
                <a:latin typeface="Segoe UI" panose="020B0502040204020203" pitchFamily="34" charset="0"/>
              </a:rPr>
              <a:t>Полный COM-доступ под учётной записью пользователя: изоляции нет.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D1907C9-92C0-4584-BC2D-AA2B1AD229AB}"/>
              </a:ext>
            </a:extLst>
          </p:cNvPr>
          <p:cNvSpPr/>
          <p:nvPr/>
        </p:nvSpPr>
        <p:spPr>
          <a:xfrm>
            <a:off x="812800" y="30607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C38A0E-B4ED-49C6-B5B7-2E296806AF47}"/>
              </a:ext>
            </a:extLst>
          </p:cNvPr>
          <p:cNvSpPr txBox="1"/>
          <p:nvPr/>
        </p:nvSpPr>
        <p:spPr>
          <a:xfrm>
            <a:off x="1066800" y="29718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D6E2F2"/>
                </a:solidFill>
                <a:latin typeface="Segoe UI" panose="020B0502040204020203" pitchFamily="34" charset="0"/>
              </a:rPr>
              <a:t>PowerPoint всегда виден; Word и Excel можно скрыть.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45525F6-63C8-4518-94FE-CF54EDC736C5}"/>
              </a:ext>
            </a:extLst>
          </p:cNvPr>
          <p:cNvSpPr/>
          <p:nvPr/>
        </p:nvSpPr>
        <p:spPr>
          <a:xfrm>
            <a:off x="812800" y="40513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435864-C059-4306-98C0-E79A9B05F4DB}"/>
              </a:ext>
            </a:extLst>
          </p:cNvPr>
          <p:cNvSpPr txBox="1"/>
          <p:nvPr/>
        </p:nvSpPr>
        <p:spPr>
          <a:xfrm>
            <a:off x="1066800" y="39624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D6E2F2"/>
                </a:solidFill>
                <a:latin typeface="Segoe UI" panose="020B0502040204020203" pitchFamily="34" charset="0"/>
              </a:rPr>
              <a:t>Модальный диалог Office приводит к таймауту, а не к зависанию навсегда.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22BFA10-6DB1-4D30-87D1-13972542B9D2}"/>
              </a:ext>
            </a:extLst>
          </p:cNvPr>
          <p:cNvSpPr/>
          <p:nvPr/>
        </p:nvSpPr>
        <p:spPr>
          <a:xfrm>
            <a:off x="812800" y="5041900"/>
            <a:ext cx="38100" cy="3302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D28FB4-019C-494D-867F-A1DB308D0FA6}"/>
              </a:ext>
            </a:extLst>
          </p:cNvPr>
          <p:cNvSpPr txBox="1"/>
          <p:nvPr/>
        </p:nvSpPr>
        <p:spPr>
          <a:xfrm>
            <a:off x="1066800" y="49530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D6E2F2"/>
                </a:solidFill>
                <a:latin typeface="Segoe UI" panose="020B0502040204020203" pitchFamily="34" charset="0"/>
              </a:rPr>
              <a:t>Сетевых портов нет: только stdio между OpenCode и сервером.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AB1537-7440-4A86-B350-B450D116FB69}"/>
              </a:ext>
            </a:extLst>
          </p:cNvPr>
          <p:cNvSpPr txBox="1"/>
          <p:nvPr/>
        </p:nvSpPr>
        <p:spPr>
          <a:xfrm>
            <a:off x="9499600" y="3810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15000" b="1">
                <a:solidFill>
                  <a:srgbClr val="12233A"/>
                </a:solidFill>
                <a:latin typeface="Segoe UI" panose="020B0502040204020203" pitchFamily="34" charset="0"/>
              </a:rPr>
              <a:t>07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0AA84F43-60F8-4455-BF6E-961CD597240E}"/>
              </a:ext>
            </a:extLst>
          </p:cNvPr>
          <p:cNvSpPr/>
          <p:nvPr/>
        </p:nvSpPr>
        <p:spPr>
          <a:xfrm>
            <a:off x="9652000" y="660400"/>
            <a:ext cx="1727200" cy="330200"/>
          </a:xfrm>
          <a:prstGeom prst="roundRect">
            <a:avLst/>
          </a:prstGeom>
          <a:solidFill>
            <a:srgbClr val="2A1A1F"/>
          </a:solidFill>
          <a:ln w="9525">
            <a:solidFill>
              <a:srgbClr val="FB7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ru-RU" sz="900" b="1">
                <a:solidFill>
                  <a:srgbClr val="FB7185"/>
                </a:solidFill>
                <a:latin typeface="Segoe UI" panose="020B0502040204020203" pitchFamily="34" charset="0"/>
              </a:rPr>
              <a:t>не </a:t>
            </a:r>
            <a:r>
              <a:rPr lang="en-US" sz="900" b="1">
                <a:solidFill>
                  <a:srgbClr val="FB7185"/>
                </a:solidFill>
                <a:latin typeface="Segoe UI" panose="020B0502040204020203" pitchFamily="34" charset="0"/>
              </a:rPr>
              <a:t>sandbox</a:t>
            </a:r>
            <a:endParaRPr lang="ru-RU" sz="900" b="1">
              <a:solidFill>
                <a:srgbClr val="FB718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87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Овал 22">
            <a:extLst>
              <a:ext uri="{FF2B5EF4-FFF2-40B4-BE49-F238E27FC236}">
                <a16:creationId xmlns:a16="http://schemas.microsoft.com/office/drawing/2014/main" id="{98AE3FE1-FA7E-4B63-896B-29C5BB4EB0B7}"/>
              </a:ext>
            </a:extLst>
          </p:cNvPr>
          <p:cNvSpPr/>
          <p:nvPr/>
        </p:nvSpPr>
        <p:spPr>
          <a:xfrm>
            <a:off x="8382000" y="508000"/>
            <a:ext cx="4572000" cy="4572000"/>
          </a:xfrm>
          <a:prstGeom prst="ellipse">
            <a:avLst/>
          </a:prstGeom>
          <a:noFill/>
          <a:ln w="15875" cap="flat" cmpd="sng" algn="ctr">
            <a:solidFill>
              <a:srgbClr val="1B335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34C1052A-8A97-4F35-B4AB-6EAD871B06A9}"/>
              </a:ext>
            </a:extLst>
          </p:cNvPr>
          <p:cNvSpPr/>
          <p:nvPr/>
        </p:nvSpPr>
        <p:spPr>
          <a:xfrm>
            <a:off x="8890000" y="1016000"/>
            <a:ext cx="3556000" cy="3556000"/>
          </a:xfrm>
          <a:prstGeom prst="ellipse">
            <a:avLst/>
          </a:prstGeom>
          <a:solidFill>
            <a:srgbClr val="0E1E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AB9719-504C-42BA-9B11-D452567CD8B1}"/>
              </a:ext>
            </a:extLst>
          </p:cNvPr>
          <p:cNvSpPr txBox="1"/>
          <p:nvPr/>
        </p:nvSpPr>
        <p:spPr>
          <a:xfrm>
            <a:off x="812800" y="17272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4200" b="1">
                <a:solidFill>
                  <a:srgbClr val="E8EEF7"/>
                </a:solidFill>
                <a:latin typeface="Segoe UI" panose="020B0502040204020203" pitchFamily="34" charset="0"/>
              </a:rPr>
              <a:t>Один чат.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A73414-17E6-45B9-A072-343A2F75907C}"/>
              </a:ext>
            </a:extLst>
          </p:cNvPr>
          <p:cNvSpPr txBox="1"/>
          <p:nvPr/>
        </p:nvSpPr>
        <p:spPr>
          <a:xfrm>
            <a:off x="812800" y="2463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4200" b="1">
                <a:solidFill>
                  <a:srgbClr val="E8EEF7"/>
                </a:solidFill>
                <a:latin typeface="Segoe UI" panose="020B0502040204020203" pitchFamily="34" charset="0"/>
              </a:rPr>
              <a:t>Три приложения.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8B6089-015E-48B1-807A-59B3D67C7B1C}"/>
              </a:ext>
            </a:extLst>
          </p:cNvPr>
          <p:cNvSpPr txBox="1"/>
          <p:nvPr/>
        </p:nvSpPr>
        <p:spPr>
          <a:xfrm>
            <a:off x="812800" y="32004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4200" b="1">
                <a:solidFill>
                  <a:srgbClr val="22D3EE"/>
                </a:solidFill>
                <a:latin typeface="Segoe UI" panose="020B0502040204020203" pitchFamily="34" charset="0"/>
              </a:rPr>
              <a:t>Реальные файлы.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AA048E5-A075-434B-BBE6-4D144B49AF7B}"/>
              </a:ext>
            </a:extLst>
          </p:cNvPr>
          <p:cNvSpPr/>
          <p:nvPr/>
        </p:nvSpPr>
        <p:spPr>
          <a:xfrm>
            <a:off x="812800" y="4241800"/>
            <a:ext cx="1016000" cy="508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CC29D8-02D6-4310-95C9-E8A967C955A4}"/>
              </a:ext>
            </a:extLst>
          </p:cNvPr>
          <p:cNvSpPr txBox="1"/>
          <p:nvPr/>
        </p:nvSpPr>
        <p:spPr>
          <a:xfrm>
            <a:off x="812800" y="4521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600">
                <a:solidFill>
                  <a:srgbClr val="9FB0C7"/>
                </a:solidFill>
                <a:latin typeface="Segoe UI" panose="020B0502040204020203" pitchFamily="34" charset="0"/>
              </a:rPr>
              <a:t>MCP — интерфейс. COM — исполнение.</a:t>
            </a:r>
          </a:p>
          <a:p>
            <a:r>
              <a:rPr lang="ru-RU" sz="1600">
                <a:solidFill>
                  <a:srgbClr val="9FB0C7"/>
                </a:solidFill>
                <a:latin typeface="Segoe UI" panose="020B0502040204020203" pitchFamily="34" charset="0"/>
              </a:rPr>
              <a:t>Мьютекс — предсказуемость.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B09A5389-54F6-4331-825D-8DC2A7BCE0D7}"/>
              </a:ext>
            </a:extLst>
          </p:cNvPr>
          <p:cNvSpPr/>
          <p:nvPr/>
        </p:nvSpPr>
        <p:spPr>
          <a:xfrm>
            <a:off x="9271000" y="2159000"/>
            <a:ext cx="2159000" cy="5842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4C9AFF"/>
                </a:solidFill>
                <a:latin typeface="Segoe UI" panose="020B0502040204020203" pitchFamily="34" charset="0"/>
              </a:rPr>
              <a:t>Word</a:t>
            </a:r>
            <a:endParaRPr lang="ru-RU" sz="1300" b="1">
              <a:solidFill>
                <a:srgbClr val="4C9A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8BC085CC-89AA-40D7-AD13-9A62225FBA69}"/>
              </a:ext>
            </a:extLst>
          </p:cNvPr>
          <p:cNvSpPr/>
          <p:nvPr/>
        </p:nvSpPr>
        <p:spPr>
          <a:xfrm>
            <a:off x="9271000" y="2946400"/>
            <a:ext cx="2159000" cy="5842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34D399"/>
                </a:solidFill>
                <a:latin typeface="Segoe UI" panose="020B0502040204020203" pitchFamily="34" charset="0"/>
              </a:rPr>
              <a:t>Excel</a:t>
            </a:r>
            <a:endParaRPr lang="ru-RU" sz="1300" b="1">
              <a:solidFill>
                <a:srgbClr val="34D399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D67EB6E0-2416-45C0-AA65-9BBE962ACF82}"/>
              </a:ext>
            </a:extLst>
          </p:cNvPr>
          <p:cNvSpPr/>
          <p:nvPr/>
        </p:nvSpPr>
        <p:spPr>
          <a:xfrm>
            <a:off x="9271000" y="3733800"/>
            <a:ext cx="2159000" cy="584200"/>
          </a:xfrm>
          <a:prstGeom prst="roundRect">
            <a:avLst/>
          </a:prstGeom>
          <a:solidFill>
            <a:srgbClr val="16263D"/>
          </a:solidFill>
          <a:ln w="9525">
            <a:solidFill>
              <a:srgbClr val="263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F97316"/>
                </a:solidFill>
                <a:latin typeface="Segoe UI" panose="020B0502040204020203" pitchFamily="34" charset="0"/>
              </a:rPr>
              <a:t>PowerPoint</a:t>
            </a:r>
            <a:endParaRPr lang="ru-RU" sz="1300" b="1">
              <a:solidFill>
                <a:srgbClr val="F97316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2751CF-B66C-4753-AB3E-38F294A0642A}"/>
              </a:ext>
            </a:extLst>
          </p:cNvPr>
          <p:cNvSpPr txBox="1"/>
          <p:nvPr/>
        </p:nvSpPr>
        <p:spPr>
          <a:xfrm>
            <a:off x="812800" y="5816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200" b="1">
                <a:solidFill>
                  <a:srgbClr val="6F8199"/>
                </a:solidFill>
                <a:latin typeface="Segoe UI" panose="020B0502040204020203" pitchFamily="34" charset="0"/>
              </a:rPr>
              <a:t>Спасибо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4D3906F7-E59D-4D8E-A2D3-D2037AB973FB}"/>
              </a:ext>
            </a:extLst>
          </p:cNvPr>
          <p:cNvCxnSpPr/>
          <p:nvPr/>
        </p:nvCxnSpPr>
        <p:spPr>
          <a:xfrm>
            <a:off x="812800" y="6400800"/>
            <a:ext cx="10566400" cy="0"/>
          </a:xfrm>
          <a:prstGeom prst="line">
            <a:avLst/>
          </a:prstGeom>
          <a:ln w="9525">
            <a:solidFill>
              <a:srgbClr val="263A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5321835-3099-4054-B0FE-AE0C8195AE1C}"/>
              </a:ext>
            </a:extLst>
          </p:cNvPr>
          <p:cNvSpPr txBox="1"/>
          <p:nvPr/>
        </p:nvSpPr>
        <p:spPr>
          <a:xfrm>
            <a:off x="812800" y="64643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00">
                <a:solidFill>
                  <a:srgbClr val="6F8199"/>
                </a:solidFill>
                <a:latin typeface="Segoe UI" panose="020B0502040204020203" pitchFamily="34" charset="0"/>
              </a:rPr>
              <a:t>office-mcp  ·  MCP + COM</a:t>
            </a:r>
            <a:endParaRPr lang="ru-RU" sz="900">
              <a:solidFill>
                <a:srgbClr val="6F8199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4D11DF-4A87-4DB3-B05E-5F1E35B7CCB9}"/>
              </a:ext>
            </a:extLst>
          </p:cNvPr>
          <p:cNvSpPr txBox="1"/>
          <p:nvPr/>
        </p:nvSpPr>
        <p:spPr>
          <a:xfrm>
            <a:off x="10109200" y="64643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ru-RU" sz="900">
                <a:solidFill>
                  <a:srgbClr val="6F8199"/>
                </a:solidFill>
                <a:latin typeface="Segoe UI" panose="020B0502040204020203" pitchFamily="34" charset="0"/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25686870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609</Words>
  <Application>Microsoft Office PowerPoint</Application>
  <PresentationFormat>Широкоэкранный</PresentationFormat>
  <Paragraphs>151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MCP-мост Office</dc:title>
  <dc:creator>Dmitriy</dc:creator>
  <cp:lastModifiedBy>Dmitriy</cp:lastModifiedBy>
  <cp:revision>8</cp:revision>
  <dcterms:created xsi:type="dcterms:W3CDTF">2026-10-22T08:24:11Z</dcterms:created>
  <dcterms:modified xsi:type="dcterms:W3CDTF">2026-10-22T08:51:56Z</dcterms:modified>
</cp:coreProperties>
</file>